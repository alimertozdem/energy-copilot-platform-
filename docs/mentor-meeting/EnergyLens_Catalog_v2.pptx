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-274320"/>
            <a:ext cx="4206240" cy="4206240"/>
          </a:xfrm>
          <a:prstGeom prst="ellipse">
            <a:avLst/>
          </a:prstGeom>
          <a:solidFill>
            <a:srgbClr val="EE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"/>
            <a:ext cx="2743200" cy="2743200"/>
          </a:xfrm>
          <a:prstGeom prst="ellipse">
            <a:avLst/>
          </a:prstGeom>
          <a:solidFill>
            <a:srgbClr val="D3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1097280"/>
            <a:ext cx="1463040" cy="1463040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2328" y="1527048"/>
            <a:ext cx="603504" cy="60350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ENERGY INTELLIGENCE · MICROSOFT FABRIC-NATIVE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0B6E4F"/>
                </a:solidFill>
                <a:latin typeface="Georgia"/>
              </a:rPr>
              <a:t>EnergyLens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8046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12A36B"/>
                </a:solidFill>
                <a:latin typeface="Georgia"/>
              </a:rPr>
              <a:t>Turn every building into a self-diagnosing, decarbonizing asset.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From raw sensor to audit-ready carbon report — EnergyLens sees, explains and acts on commercial-building energy, on one cloud-native platform with a built-in AI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3749039" cy="566928"/>
          </a:xfrm>
          <a:prstGeom prst="round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9 analytics pages · web app · AI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The largest source of EU emissions is hiding in plain 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8541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of EU energy is used by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residential + non-residential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96596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8541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36%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063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of EU energy-related CO₂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374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the single largest sector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9659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185416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2030–2033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0632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EU performance deadlines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3741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EPBD minimum standards, binding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B6E4F"/>
                </a:solidFill>
                <a:latin typeface="Georgia"/>
              </a:rPr>
              <a:t>Yet most portfolios still run on monthly bills and spreadsheets.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They are blind to the anomalies bleeding money every night, to a wall of tightening regulation — EPBD, EnEfG, GEG, CSRD, the EU Battery Regulation — and to the cheapest decarbonization wins. EnergyLens closes that gap for the mid-market the incumbents ignore.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MEET ENERGYLENS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One platform. Three layers. Every building, understood.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It unifies meters, sensors, weather, solar and battery data — then turns it into decisions, compliance and savings.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063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61E"/>
                </a:solidFill>
                <a:latin typeface="Georgia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A 9-page Power BI report — consumption, anomalies, forecasting, sustainability, HVAC, real-time IoT and battery ROI — live from the Fabric Lakehouse.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514600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2" y="277063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770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61E"/>
                </a:solidFill>
                <a:latin typeface="Georgia"/>
              </a:rP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A web app that wraps it all: secure multi-tenant access, building deep-dives, an EU-compliance hub, recommendations, alerts and one-click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514600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3" y="277063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770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3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61E"/>
                </a:solidFill>
                <a:latin typeface="Georgia"/>
              </a:rPr>
              <a:t>Ask &amp;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An AI copilot that answers in plain language by running real queries over your data — and can take action, not just describe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B7B73"/>
                </a:solidFill>
                <a:latin typeface="Calibri"/>
              </a:rPr>
              <a:t>Plus a compliance brain — CRREM, EnEfG, GEG, CSRD/ESRS E1 and the EU Battery Regulation, scored per building.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One copy of your data — from raw signal to audit-ready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828800" cy="822960"/>
          </a:xfrm>
          <a:prstGeom prst="round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0240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Meters, bills, BMS sensors (BACnet/Modbus/MQTT), weather (Open-Meteo), prices (ENTSO-E), grid CO₂, solar &amp; battery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71216"/>
            <a:ext cx="1828800" cy="82296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71216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71216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Raw, exactly as ingested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2192"/>
            <a:ext cx="1828800" cy="82296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2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822192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Cleaned, normalized, validated — one sourced reference layer for every factor &amp; tariff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73168"/>
            <a:ext cx="1828800" cy="82296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73168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773168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Business-ready KPIs, anomalies and simulations the report reads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201400" cy="603504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972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Three validated paths into Fabric:  </a:t>
            </a:r>
            <a:r>
              <a:rPr sz="1300" b="0" i="0">
                <a:solidFill>
                  <a:srgbClr val="16261E"/>
                </a:solidFill>
                <a:latin typeface="Calibri"/>
              </a:rPr>
              <a:t>Power BI DirectLake  ·  custom React via the SQL endpoint  ·  the AI copilot via tool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1 ·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The analytics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Nine pages that turn raw energy data into decisions — live, on every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REPORT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Nine pages, one living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1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How the whole portfolio is doing this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2024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84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2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What one building is doing right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92024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2084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3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Where energy is wasted or a fault is forming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4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What next month and quarter will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33756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5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904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What to do, in what order, and what it saves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333756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6 Sustainability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3904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Carbon footprint, EU report-readiness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5488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7 HVAC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Heating &amp; cooling efficiency, hour by hour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75488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919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8 Real-time IoT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53218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Live faults, diagnosed and priced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475488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919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9 Battery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53218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Should you invest, and when it pays 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PORTFOLIO &amp; BUILDING INTELLIGENCE · PAGES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See your whole portfolio — then any building,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ranks every building by energy intensity against its type, surfaces the worst performers, and lets you drop into a single building’s 24-hour profile in one click — cost, peak and carbon, all climate-adjusted.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Fair comparison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climate-adjusted EUI normalizes for weather, so no building is unfairly judged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Find the money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worst-3 buildings and overnight ‘base load’ waste surface instantly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From portfolio to plug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one click from the C-suite view to a facility manager’s hourly curve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portfolio + building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kWh/m²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master metric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24h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hourly detail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The whole portfolio, and any building, on one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ANOMALIES &amp; FORECASTING · PAGES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Catch waste tonight; budget for next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A single detection engine flags consumption spikes, COP drops, solar underperformance and after-hours waste — each with a probable cause and a euro figure. A per-building Prophet model then forecasts cost and carbon weeks ahead.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Diagnosis, not noise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7 rule families, trilingual, with an estimated € loss on every anomaly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Forecast that learns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Prophet with weather and occupancy as drivers, per building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Plan with confidence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forecast cost and CO₂ with an uncertainty band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anomalies + forecast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anomaly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90d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forecast horizon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Stop bleeding money now — and see the bill coming.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DECISION SUPPORT · PAGE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 ranked to-do list that pays for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converts findings into ranked actions — each with annual savings, payback, effort and the exact German or EU grant that helps fund it. It’s a multi-country compliance brain, not a generic dashboard.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Ranked by impact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priority = saving × urgency ÷ effort, so the best move is on top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Money attached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€/kWh/CO₂ per year, payback in years, for every recommendation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Grants matched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KfW, BAFA, EEG and YEKA programs matched automatically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recommendations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country regimes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savings + grants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Every insight becomes a funded, prioritized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SUSTAINABILITY · ESG / GHG · PAGE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Audit-ready carbon — the page that sells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Scope 1, 2 and 3 emissions, an area-weighted EPC map, a CRREM stranding view and a 0–100 ESG score — mapped to ESRS E1 and built on traceable, sourced factors. Every disclosed kilogram traces back to a raw bill.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Regulator-grade lineage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one sourced, year-indexed factor table — every kg CO₂ is traceable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Done right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area-weighted EPC, dual-method Scope 2 — the things auditors check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Honest by design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screening estimates are labelled as such — reporting support, not greenwashing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Scope 1/2/3 + EPC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1/2/3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full GHG scopes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ESRS E1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aligned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ESRS-E1-aligned reporting support, with traceable lineage.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HVAC INTELLIGENCE · PAGE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Know when your heating is quietly failing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Heat-pump performance against its rating, supply/return temperature deltas and HVAC’s share of load — compared within equal weather bands, so a normal cold-day dip is never mistaken for a fault.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Fair COP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performance judged within equal outdoor-temperature bands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Spot the drift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supply/return delta-T as a live efficiency signal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Right-size retrofits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envelope and renovation priorities, building by building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HVAC / COP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COP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actual vs 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ΔT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efficiency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Catch a failing heat pump before the bill does.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REAL-TIME INTELLIGENCE · PAGE 8 · FLAGSHIP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Your building talks back —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listens to every sensor across BACnet, Modbus and MQTT. The moment an air handler drifts or a chiller starts wasting energy, it doesn’t just alarm — it diagnoses the fault, names the probable cause, and puts a euro figure on it.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Diagnosis, not alerts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ASHRAE Guideline 36 logic — 12 rules with confidence and probable cause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Speaks every protocol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BACnet, Modbus, MQTT and ~31 sensor types, normalized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Counts the cost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every fault carries a live euro estimate, so teams fix what matters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live IoT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diagnostic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~31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sensor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Enterprise-grade fault detection — at mid-market 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BATTERY DISPATCH &amp; ROI · PAGE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Answer the CFO’s question: is a battery worth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compares battery chemistries and dispatch strategies across countries, then returns payback, NPV and IRR — only ever using EU-compliant chemistries, with real, sourced electricity prices.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Real finance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NPV with discounting, inflation and salvage; Newton-Raphson IRR; payback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Strategy-aware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self-consumption, peak-shaving and arbitrage compared head-to-head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EU-compliant only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scenarios respect the EU Battery Regulation 2023/1542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battery ROI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NPV · IRR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real appraisal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12×7×8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Rigorous ROI — real NPV, IRR and payback, on EU-compliant chemistries.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2 ·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The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Where the locked report becomes a secure, multi-tenant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PLATFORM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More than a dashboard —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A Next.js + FastAPI + PostgreSQL application wraps the report with secure access, custom Fabric-powered pages, one-click PDF reports and a full audit trail. Three layers of access mean every customer sees only their own buildings.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Secure by design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row-level security on data, module gating on navigation, tiers on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Built for teams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org accounts, member invites, roles, Stripe self-serve billing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Resilient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graceful degradation, audit logging, mobile-ready, accessible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portfolio dashboard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3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of access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RLS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 never crosses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The report stays a locked template; the app makes it a product.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COMPLIANCE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Stay ahead of the EU agenda — in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MEPS renovation risk, CRREM stranding years, flexibility readiness, EU-Taxonomy alignment and an ESRS-E1 summary — the regulatory questions that keep asset managers awake, answered per building, with an honest ‘indicative’ caveat.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Renovation radar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EPBD 2030/2033 risk banding by EPC, building by building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Stranding foresight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indicative CRREM 1.5°C pathways and the year each asset strands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Report-ready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ESRS-E1 energy and Scope 1/2/3 summary, exportable to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compliance hub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EU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Schneider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-class, mid-market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How we stand next to Schneider and Siemens on sustainability.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WORKFLOW · ACTIONS &amp;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From insight to action — and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Recommendations and anomalies flow into a working queue: assign a status, acknowledge an alert, and every change is written to an audit log. Insights don’t die in a dashboard — they get done.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A real queue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status workflow on every recommendation; triage on every alert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Nothing slips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‘unhandled’ = unresolved and unacknowledged, surfaced in a nav badge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Accountable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every change logged with who, when and from where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actions / alerts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live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every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Insights become tracked, accountable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3 · ASK &amp;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The AI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Conversational analytics that runs real queries — and can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Ask in plain language. It queries your data — and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Most BI ‘copilots’ summarize a page as text. EnergyLens runs real queries over your Lakehouse through six production tools — and one of them writes back, so the copilot can change a status, not just describe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query_kpi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004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KPIs for a building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compare_buildings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rank / compare buildings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list_recommendations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recommendations by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get_anomalies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720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anomalies by severity /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simulate_battery_scenario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payback / NPV / IRR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update_action_status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4864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change status (a write)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copilot chat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709160"/>
            <a:ext cx="434340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84632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BF0C9"/>
                </a:solidFill>
                <a:latin typeface="Calibri"/>
              </a:rPr>
              <a:t>Provider-flexible: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Anthropic, Azure OpenAI or Mock — production is one setting. Security enforced on every call.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4 · THE INNOVATION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From dashboard to autonomous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The working platform is the foundation. This is the 12-month build the EXIST grant funds.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BF0C9"/>
                </a:solidFill>
                <a:latin typeface="Georgia"/>
              </a:rPr>
              <a:t>THE INNOVATION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Four moves from analytics to autonomy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" y="210312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103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665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Agentic AI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2374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Reasons over your Lakehouse with real tool use today — evolving into a copilot that proposes and sequences retrofit and dispatch plans.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2" y="210312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103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665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Predictive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Beyond forecasting: ML-driven predictive maintenance that catches faults before they cost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0332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0432" y="397764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977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41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Closed-loop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9826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From simulation to control — optimal battery dispatch, HVAC setpoints and automated demand response (EU DR Network Code).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0332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56832" y="397764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3977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41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Auditable carbon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39826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regulator-grade, fully traceable carbon-lineage methodology — research we are formalizing with BSBI.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715000"/>
            <a:ext cx="10332720" cy="566928"/>
          </a:xfrm>
          <a:prstGeom prst="round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71500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3D2E"/>
                </a:solidFill>
                <a:latin typeface="Calibri"/>
              </a:rPr>
              <a:t>Live today: the full platform above. The innovation engine is our 12-month roadmap — exactly what we are seeking the EXIST grant to fund.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12-MONTH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What the EXIST grant turns into a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11680" cy="96012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1–3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965960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8483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68880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BSBI campus pilot live; 2–3 design partners; methodology research started with BSBI.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35808"/>
            <a:ext cx="2011680" cy="960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4–6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035808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15468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Sell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38728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Convert pilots into 2–3 paying customers; the agentic copilot ships as the wedge; pricing validated.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05656"/>
            <a:ext cx="2011680" cy="960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05656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7–9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105656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22452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Incorporate &amp;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08576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UG founded; first hire; closed-loop optimization live; 5 customers in sight.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75504"/>
            <a:ext cx="2011680" cy="960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75504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10–12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175504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529437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Fundable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67842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€5–10k MRR; auditable-carbon method published; Microsoft Partner track; seed-ready.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3620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B6E4F"/>
                </a:solidFill>
                <a:latin typeface="Calibri"/>
              </a:rPr>
              <a:t>We build fast — the real constraint is customers and trust, not features. The grant buys 12 months to win both.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5 ·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Market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A large, regulation-driven market — and a near-empty niche to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Big, growing, and pulled forward by regulation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854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€18B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TAM — illustrative, top-down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~5M buildings × price (indicative)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9659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1854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€4.3B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063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SAM — DACH (illustrative)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337413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highest-value market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9659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1854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$8.4→24B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BEMS market (3rd-party)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37413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2026 → 2035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965960"/>
            <a:ext cx="249631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85416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306324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BEMS CAGR (external)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337413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credible anchor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B6E4F"/>
                </a:solidFill>
                <a:latin typeface="Georgia"/>
              </a:rPr>
              <a:t>Five tailwinds, all at once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Binding EU climate regulation (2024–2033) · the post-2022 price shock made energy a board topic · Microsoft Fabric matured · IoT sensor costs collapsed · AI made pattern recognition affordable. The reasons to buy are structural and accelerating.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 near-empty intersection: Fabric-native + EU niche + mid-market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201400" cy="45720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</a:rPr>
              <a:t>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96596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</a:rPr>
              <a:t>WHERE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</a:rPr>
              <a:t>THE GAP WE FILL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Measurabl / Aquicore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42316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US enterprise, well-funded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mid-market EU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Cortexa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15468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EU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mid-market access &amp;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Schneider EcoStruxure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88620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peer: auditable reporting +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multi-protocol IoT + Fabric-native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Siemens Desigo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61772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BMS / building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61772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the analytics layer, not a BMS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Our angle: </a:t>
            </a:r>
            <a:r>
              <a:rPr sz="1350" b="0" i="1">
                <a:solidFill>
                  <a:srgbClr val="16261E"/>
                </a:solidFill>
                <a:latin typeface="Calibri"/>
              </a:rPr>
              <a:t>an AI copilot that reasons over the Lakehouse via tool use — from under €299/building/month.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PRICING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Real pricing today — target economics to prove in pilots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€99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SME offices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€299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mid-market property mgmt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€699+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enterprise / IoT-equipped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Custom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€5–50k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10+ building portfolios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3584448" cy="14173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7939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Georgia"/>
              </a:rPr>
              <a:t>€17k+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0840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ARR / customer (5 bldgs)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4114800"/>
            <a:ext cx="3584448" cy="14173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427939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Georgia"/>
              </a:rPr>
              <a:t>~85%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840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gross margin (SaaS-typical)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114800"/>
            <a:ext cx="3584448" cy="14173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3" y="427939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Georgia"/>
              </a:rPr>
              <a:t>&lt;6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1" y="50840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target CAC payback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B7B73"/>
                </a:solidFill>
                <a:latin typeface="Calibri"/>
              </a:rPr>
              <a:t>Unit economics are pre-revenue targets, to validate in the first pilots · 3 months free to win reference cases.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GO-TO-MARKET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Bottom-up, validation-first — then expand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11680" cy="100584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Now → 6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965960"/>
            <a:ext cx="9006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8595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61E"/>
                </a:solidFill>
                <a:latin typeface="Calibri"/>
              </a:rPr>
              <a:t>Free university &amp; DACH mid-market pilots that close in 2–8 weeks. BSBI campus pilot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9815"/>
            <a:ext cx="2011680" cy="10058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9815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6–18 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099815"/>
            <a:ext cx="9006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3099815"/>
            <a:ext cx="8595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61E"/>
                </a:solidFill>
                <a:latin typeface="Calibri"/>
              </a:rPr>
              <a:t>Convert pilots to paying customers; case studies open hotels, healthcare and REITs.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2011680" cy="10058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33672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18 mo+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233672"/>
            <a:ext cx="9006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233672"/>
            <a:ext cx="8595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61E"/>
                </a:solidFill>
                <a:latin typeface="Calibri"/>
              </a:rPr>
              <a:t>Microsoft Partner Network co-selling; expand DACH → BeNeLux → Southern Europe.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201400" cy="9144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6E4F"/>
                </a:solidFill>
                <a:latin typeface="Georgia"/>
              </a:rPr>
              <a:t>The 3-year vision: </a:t>
            </a:r>
            <a:r>
              <a:rPr sz="1400" b="0" i="0">
                <a:solidFill>
                  <a:srgbClr val="16261E"/>
                </a:solidFill>
                <a:latin typeface="Calibri"/>
              </a:rPr>
              <a:t>the default Fabric-native energy-intelligence platform for European commercial real estate — 100+ buildings, €1–2M ARR, a Microsoft partner in climate-tech.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Energy domain depth × modern data engineering — a rare pairing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3113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5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to build the whole stack, solo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pipeline → app → AI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1168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23113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DP-600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108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Microsoft Fabric certified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4198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few solo founders hold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116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231136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B.Sc.+M.Sc.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089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Energy Engineering +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41985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Yaşar + BSBI (June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Most BI developers don’t know kWh/m² or Scope 2; most energy engineers don’t know medallion architecture or LLM tool use. EnergyLens sits at that intersection — built end-to-end, solo, accelerated by AI-assisted development, with an 18-month visa runway to incorporate in Germany.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F0C9"/>
                </a:solidFill>
                <a:latin typeface="Georgia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</a:rPr>
              <a:t>How you can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0332720" cy="132588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1226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1 · EXIST academic mentor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EXIST is the German federal founder grant (~€65k / 12 months); it requires an academic mentor letter. Since EnergyLens grew from my M.Sc. work, I’d be honored if you’d serve as mentor — one short letter (I’ll draft it) and a couple of alignment chats.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10332720" cy="132588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7530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2 · BSBI campus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4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free, six-month, secure pilot I run end-to-end — real-time visibility for the facilities team, a named case study for BSBI, and validation for my capstone. No cost, no commitment.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92040"/>
            <a:ext cx="10332720" cy="132588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3834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3 · Ongoing advisory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4068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Occasional monthly / quarterly check-ins on the energy and academic angles — no formal commitment, just openness to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383280"/>
            <a:ext cx="3108960" cy="3108960"/>
          </a:xfrm>
          <a:prstGeom prst="ellipse">
            <a:avLst/>
          </a:prstGeom>
          <a:solidFill>
            <a:srgbClr val="07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4023360"/>
            <a:ext cx="1828800" cy="182880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4572000"/>
            <a:ext cx="731520" cy="73152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11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8BF0C9"/>
                </a:solidFill>
                <a:latin typeface="Georgia"/>
              </a:rPr>
              <a:t>I’d welcome your guidance — and your support on the EXIST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Ali Mert Özdemir   ·   energylens.eu   ·   Microsoft DP-600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BF0C9"/>
                </a:solidFill>
                <a:latin typeface="Calibri"/>
              </a:rPr>
              <a:t>Demo: https://youtu.be/0IiqssHYtkY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
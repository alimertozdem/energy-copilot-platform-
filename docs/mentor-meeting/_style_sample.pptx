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-274320"/>
            <a:ext cx="4206240" cy="4206240"/>
          </a:xfrm>
          <a:prstGeom prst="ellipse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66760" y="411480"/>
            <a:ext cx="2834640" cy="2834640"/>
          </a:xfrm>
          <a:prstGeom prst="ellipse">
            <a:avLst/>
          </a:prstGeom>
          <a:solidFill>
            <a:srgbClr val="0E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06840" y="1051560"/>
            <a:ext cx="1554480" cy="1554480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508760"/>
            <a:ext cx="640080" cy="64008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BF0C9"/>
                </a:solidFill>
                <a:latin typeface="Trebuchet MS"/>
              </a:rPr>
              <a:t>ENERGY INTELLIGENCE · MICROSOFT FABRIC-NATIVE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Trebuchet MS"/>
              </a:rPr>
              <a:t>EnergyLens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8BF0C9"/>
                </a:solidFill>
                <a:latin typeface="Trebuchet MS"/>
              </a:rPr>
              <a:t>Turn every building into a self-diagnosing, decarbonizing asset.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From raw sensor to audit-ready carbon report — EnergyLens sees, explains and acts on commercial-building energy, on one cloud-native platform with a built-in AI copilot.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3383280" cy="603504"/>
          </a:xfrm>
          <a:prstGeom prst="round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3383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A16"/>
                </a:solidFill>
                <a:latin typeface="Calibri"/>
              </a:rPr>
              <a:t>9 analytics pages · web app · AI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Trebuchet MS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03504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9377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C78A"/>
                </a:solidFill>
                <a:latin typeface="Trebuchet MS"/>
              </a:rPr>
              <a:t>MEET ENERGYLENS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B6E4F"/>
                </a:solidFill>
                <a:latin typeface="Trebuchet MS"/>
              </a:rPr>
              <a:t>One platform. Three layers. Every building, understood.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02B"/>
                </a:solidFill>
                <a:latin typeface="Calibri"/>
              </a:rPr>
              <a:t>Most portfolios still run on monthly bills and spreadsheets. EnergyLens unifies meters, sensors, weather, solar and battery data — then turns it into decisions, compliance, and savings.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584448" cy="33832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C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2491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6148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02B"/>
                </a:solidFill>
                <a:latin typeface="Trebuchet MS"/>
              </a:rPr>
              <a:t>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2044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202B"/>
                </a:solidFill>
                <a:latin typeface="Calibri"/>
              </a:rPr>
              <a:t>A 9-page Power BI report — consumption, anomalies, forecasting, sustainability, HVAC, real-time IoT and battery ROI — reading live from the Fabric Lakehouse.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468880"/>
            <a:ext cx="3584448" cy="33832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C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2" y="272491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76148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02B"/>
                </a:solidFill>
                <a:latin typeface="Trebuchet MS"/>
              </a:rPr>
              <a:t>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2044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202B"/>
                </a:solidFill>
                <a:latin typeface="Calibri"/>
              </a:rPr>
              <a:t>A web app that wraps it all: secure multi-tenant access, building deep-dives, an EU-compliance hub, recommendations, alerts and one-click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468880"/>
            <a:ext cx="3584448" cy="338328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C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3" y="2724912"/>
            <a:ext cx="566928" cy="566928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3" y="276148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202B"/>
                </a:solidFill>
                <a:latin typeface="Trebuchet MS"/>
              </a:rPr>
              <a:t>Ask &amp;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352044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202B"/>
                </a:solidFill>
                <a:latin typeface="Calibri"/>
              </a:rPr>
              <a:t>An AI copilot that answers in plain language by running real queries over your data — and can take action, not just describe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07B"/>
                </a:solidFill>
                <a:latin typeface="Calibri"/>
              </a:rPr>
              <a:t>Plus a compliance brain — CRREM, EnEfG, GEG, CSRD/ESRS E1 and the EU Battery Regulation, scored per building.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4707B"/>
                </a:solidFill>
                <a:latin typeface="Trebuchet MS"/>
              </a:rPr>
              <a:t>EnergyLens</a:t>
            </a:r>
            <a:r>
              <a:rPr sz="900" b="0" i="0">
                <a:solidFill>
                  <a:srgbClr val="64707B"/>
                </a:solidFill>
                <a:latin typeface="Calibri"/>
              </a:rPr>
              <a:t>   Product 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0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03504"/>
            <a:ext cx="155448" cy="155448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9377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C78A"/>
                </a:solidFill>
                <a:latin typeface="Trebuchet MS"/>
              </a:rPr>
              <a:t>REAL-TIME INTELLIGENCE  ·  PAGE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B6E4F"/>
                </a:solidFill>
                <a:latin typeface="Trebuchet MS"/>
              </a:rPr>
              <a:t>Your building talks back —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02B"/>
                </a:solidFill>
                <a:latin typeface="Calibri"/>
              </a:rPr>
              <a:t>EnergyLens listens to every sensor across BACnet, Modbus and MQTT. The moment an air handler drifts or a chiller starts wasting energy, it doesn’t just raise an alarm — it diagnoses the fault, names the probable cause, and puts a euro figure on it.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255264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Diagnosis, not just alerts — </a:t>
            </a:r>
            <a:r>
              <a:rPr sz="1350" b="0" i="0">
                <a:solidFill>
                  <a:srgbClr val="16202B"/>
                </a:solidFill>
                <a:latin typeface="Calibri"/>
              </a:rPr>
              <a:t>ASHRAE Guideline 36 logic — 12 rules with confidence and probable cause.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31920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77056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Speaks every protocol — </a:t>
            </a:r>
            <a:r>
              <a:rPr sz="1350" b="0" i="0">
                <a:solidFill>
                  <a:srgbClr val="16202B"/>
                </a:solidFill>
                <a:latin typeface="Calibri"/>
              </a:rPr>
              <a:t>BACnet, Modbus, MQTT and ~31 sensor types, normalized automatically.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608576"/>
            <a:ext cx="146304" cy="146304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6E4F"/>
                </a:solidFill>
                <a:latin typeface="Calibri"/>
              </a:rPr>
              <a:t>Counts the cost — </a:t>
            </a:r>
            <a:r>
              <a:rPr sz="1350" b="0" i="0">
                <a:solidFill>
                  <a:srgbClr val="16202B"/>
                </a:solidFill>
                <a:latin typeface="Calibri"/>
              </a:rPr>
              <a:t>Every fault carries a live euro estimate, so teams fix what matters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783080"/>
            <a:ext cx="4343400" cy="2697480"/>
          </a:xfrm>
          <a:prstGeom prst="roundRect">
            <a:avLst/>
          </a:prstGeom>
          <a:solidFill>
            <a:srgbClr val="E9F4EE"/>
          </a:solidFill>
          <a:ln w="15875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2600" y="2697480"/>
            <a:ext cx="237744" cy="237744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06324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6E4F"/>
                </a:solidFill>
                <a:latin typeface="Trebuchet MS"/>
              </a:rPr>
              <a:t>[ screenshot: live IoT page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401568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4707B"/>
                </a:solidFill>
                <a:latin typeface="Calibri"/>
              </a:rPr>
              <a:t>drop your screen recording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617720"/>
            <a:ext cx="2103120" cy="1234440"/>
          </a:xfrm>
          <a:prstGeom prst="roundRect">
            <a:avLst/>
          </a:prstGeom>
          <a:solidFill>
            <a:srgbClr val="07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73659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Trebuchet M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5440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diagnostic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4617720"/>
            <a:ext cx="2103120" cy="1234440"/>
          </a:xfrm>
          <a:prstGeom prst="roundRect">
            <a:avLst/>
          </a:prstGeom>
          <a:solidFill>
            <a:srgbClr val="07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73659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F0C9"/>
                </a:solidFill>
                <a:latin typeface="Trebuchet MS"/>
              </a:rPr>
              <a:t>~31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440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sensor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89320"/>
            <a:ext cx="6400800" cy="4572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CD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Enterprise-grade fault detection — at mid-market 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4707B"/>
                </a:solidFill>
                <a:latin typeface="Trebuchet MS"/>
              </a:rPr>
              <a:t>EnergyLens</a:t>
            </a:r>
            <a:r>
              <a:rPr sz="900" b="0" i="0">
                <a:solidFill>
                  <a:srgbClr val="64707B"/>
                </a:solidFill>
                <a:latin typeface="Calibri"/>
              </a:rPr>
              <a:t>   Product 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0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BF0C9"/>
                </a:solidFill>
                <a:latin typeface="Trebuchet MS"/>
              </a:rPr>
              <a:t>THE INNOVATION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Trebuchet MS"/>
              </a:rPr>
              <a:t>From a dashboard to an autonomous energy advisor.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212080" cy="1691640"/>
          </a:xfrm>
          <a:prstGeom prst="roundRect">
            <a:avLst/>
          </a:prstGeom>
          <a:solidFill>
            <a:srgbClr val="0B3D2E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" y="2084832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0848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1A16"/>
                </a:solidFill>
                <a:latin typeface="Trebuchet M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6654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Trebuchet MS"/>
              </a:rPr>
              <a:t>Agentic AI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42032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Reasons over your Lakehouse with real tool use today — evolving into a copilot that proposes and sequences retrofit and dispatch plans.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212080" cy="1691640"/>
          </a:xfrm>
          <a:prstGeom prst="roundRect">
            <a:avLst/>
          </a:prstGeom>
          <a:solidFill>
            <a:srgbClr val="0B3D2E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6832" y="2084832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0848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1A16"/>
                </a:solidFill>
                <a:latin typeface="Trebuchet M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6654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Trebuchet MS"/>
              </a:rPr>
              <a:t>Predictive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42032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Beyond forecasting: ML-driven predictive maintenance that catches faults before they cost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03320"/>
            <a:ext cx="5212080" cy="1691640"/>
          </a:xfrm>
          <a:prstGeom prst="roundRect">
            <a:avLst/>
          </a:prstGeom>
          <a:solidFill>
            <a:srgbClr val="0B3D2E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0432" y="3959352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9593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1A16"/>
                </a:solidFill>
                <a:latin typeface="Trebuchet MS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4106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Trebuchet MS"/>
              </a:rPr>
              <a:t>Closed-loop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416552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From simulation to control — optimal battery dispatch, HVAC setpoints and automated demand response (EU DR Network Code).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03320"/>
            <a:ext cx="5212080" cy="1691640"/>
          </a:xfrm>
          <a:prstGeom prst="roundRect">
            <a:avLst/>
          </a:prstGeom>
          <a:solidFill>
            <a:srgbClr val="0B3D2E"/>
          </a:solidFill>
          <a:ln w="12700">
            <a:solidFill>
              <a:srgbClr val="16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56832" y="3959352"/>
            <a:ext cx="548640" cy="548640"/>
          </a:xfrm>
          <a:prstGeom prst="ellipse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39593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1A16"/>
                </a:solidFill>
                <a:latin typeface="Trebuchet M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94106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BF0C9"/>
                </a:solidFill>
                <a:latin typeface="Trebuchet MS"/>
              </a:rPr>
              <a:t>Auditable carbon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416552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regulator-grade, fully traceable carbon-lineage methodology — research we are formalizing with BSBI.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715000"/>
            <a:ext cx="10332720" cy="566928"/>
          </a:xfrm>
          <a:prstGeom prst="roundRect">
            <a:avLst/>
          </a:prstGeom>
          <a:solidFill>
            <a:srgbClr val="16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71500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A16"/>
                </a:solidFill>
                <a:latin typeface="Calibri"/>
              </a:rPr>
              <a:t>Live today: the full platform. The innovation engine is our 12-month build — exactly what we are seeking the EXIST grant to fund.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F0C9"/>
                </a:solidFill>
                <a:latin typeface="Trebuchet MS"/>
              </a:rPr>
              <a:t>EnergyLens</a:t>
            </a:r>
            <a:r>
              <a:rPr sz="900" b="0" i="0">
                <a:solidFill>
                  <a:srgbClr val="8BF0C9"/>
                </a:solidFill>
                <a:latin typeface="Calibri"/>
              </a:rPr>
              <a:t>   Product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BF0C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
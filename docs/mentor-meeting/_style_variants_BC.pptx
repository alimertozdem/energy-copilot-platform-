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2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0" y="-274320"/>
            <a:ext cx="4206240" cy="4206240"/>
          </a:xfrm>
          <a:prstGeom prst="ellipse">
            <a:avLst/>
          </a:prstGeom>
          <a:solidFill>
            <a:srgbClr val="EE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457200"/>
            <a:ext cx="2743200" cy="2743200"/>
          </a:xfrm>
          <a:prstGeom prst="ellipse">
            <a:avLst/>
          </a:prstGeom>
          <a:solidFill>
            <a:srgbClr val="D3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1097280"/>
            <a:ext cx="1463040" cy="1463040"/>
          </a:xfrm>
          <a:prstGeom prst="ellipse">
            <a:avLst/>
          </a:prstGeom>
          <a:solidFill>
            <a:srgbClr val="12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82328" y="1527048"/>
            <a:ext cx="603504" cy="603504"/>
          </a:xfrm>
          <a:prstGeom prst="ellipse">
            <a:avLst/>
          </a:prstGeom>
          <a:solidFill>
            <a:srgbClr val="12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772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ENERGY INTELLIGENCE · MICROSOFT FABRIC-NATIVE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8503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6200" b="1" i="0">
                <a:solidFill>
                  <a:srgbClr val="0B6E4F"/>
                </a:solidFill>
                <a:latin typeface="Georgia"/>
              </a:rPr>
              <a:t>EnergyLens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0128"/>
            <a:ext cx="8046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0" i="0">
                <a:solidFill>
                  <a:srgbClr val="12A36B"/>
                </a:solidFill>
                <a:latin typeface="Georgia"/>
              </a:rPr>
              <a:t>Turn every building into a self-diagnosing, decarbonizing asset.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4241D"/>
                </a:solidFill>
                <a:latin typeface="Calibri"/>
              </a:rPr>
              <a:t>From raw sensor to audit-ready carbon report — EnergyLens sees, explains and acts on commercial-building energy, on one cloud-native platform with a built-in AI copilot.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486400"/>
            <a:ext cx="3749039" cy="566928"/>
          </a:xfrm>
          <a:prstGeom prst="roundRect">
            <a:avLst/>
          </a:prstGeom>
          <a:solidFill>
            <a:srgbClr val="12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37490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9 analytics pages · web app · AI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Variant B — Light Atlas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2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A36B"/>
                </a:solidFill>
                <a:latin typeface="Georgia"/>
              </a:rPr>
              <a:t>REAL-TIME INTELLIGENCE  ·  PAGE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6E4F"/>
                </a:solidFill>
                <a:latin typeface="Georgia"/>
              </a:rPr>
              <a:t>Your building talks back — in real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4241D"/>
                </a:solidFill>
                <a:latin typeface="Calibri"/>
              </a:rPr>
              <a:t>EnergyLens listens to every sensor across BACnet, Modbus and MQTT. The moment an air handler drifts or a chiller starts wasting energy, it doesn’t just raise an alarm — it diagnoses the fault, names the probable cause, and puts a euro figure on it.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00984"/>
            <a:ext cx="146304" cy="146304"/>
          </a:xfrm>
          <a:prstGeom prst="ellipse">
            <a:avLst/>
          </a:prstGeom>
          <a:solidFill>
            <a:srgbClr val="12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Diagnosis, not just alerts — </a:t>
            </a:r>
            <a:r>
              <a:rPr sz="1350" b="0" i="0">
                <a:solidFill>
                  <a:srgbClr val="14241D"/>
                </a:solidFill>
                <a:latin typeface="Calibri"/>
              </a:rPr>
              <a:t>ASHRAE Guideline 36 logic — 12 rules with confidence and probable cause.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77640"/>
            <a:ext cx="146304" cy="146304"/>
          </a:xfrm>
          <a:prstGeom prst="ellipse">
            <a:avLst/>
          </a:prstGeom>
          <a:solidFill>
            <a:srgbClr val="12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22776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Speaks every protocol — </a:t>
            </a:r>
            <a:r>
              <a:rPr sz="1350" b="0" i="0">
                <a:solidFill>
                  <a:srgbClr val="14241D"/>
                </a:solidFill>
                <a:latin typeface="Calibri"/>
              </a:rPr>
              <a:t>BACnet, Modbus, MQTT and ~31 sensor types, normalized automatically.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654296"/>
            <a:ext cx="146304" cy="146304"/>
          </a:xfrm>
          <a:prstGeom prst="ellipse">
            <a:avLst/>
          </a:prstGeom>
          <a:solidFill>
            <a:srgbClr val="12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99432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Counts the cost — </a:t>
            </a:r>
            <a:r>
              <a:rPr sz="1350" b="0" i="0">
                <a:solidFill>
                  <a:srgbClr val="14241D"/>
                </a:solidFill>
                <a:latin typeface="Calibri"/>
              </a:rPr>
              <a:t>Every fault carries a live euro estimate, so teams fix what matters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EEF5F1"/>
          </a:solidFill>
          <a:ln w="15875">
            <a:solidFill>
              <a:srgbClr val="12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88920"/>
            <a:ext cx="237744" cy="237744"/>
          </a:xfrm>
          <a:prstGeom prst="ellipse">
            <a:avLst/>
          </a:prstGeom>
          <a:solidFill>
            <a:srgbClr val="12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5468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Georgia"/>
              </a:rPr>
              <a:t>[ screenshot: live IoT page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93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B73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321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diagnostic rules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~31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321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sensor types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D3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Enterprise-grade fault detection — at mid-market reach.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B73"/>
                </a:solidFill>
                <a:latin typeface="Georgia"/>
              </a:rPr>
              <a:t>Variant B — Light Atlas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6E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0" y="-274320"/>
            <a:ext cx="4206240" cy="4206240"/>
          </a:xfrm>
          <a:prstGeom prst="ellipse">
            <a:avLst/>
          </a:prstGeom>
          <a:solidFill>
            <a:srgbClr val="12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457200"/>
            <a:ext cx="2743200" cy="2743200"/>
          </a:xfrm>
          <a:prstGeom prst="ellipse">
            <a:avLst/>
          </a:prstGeom>
          <a:solidFill>
            <a:srgbClr val="1E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1097280"/>
            <a:ext cx="1463040" cy="1463040"/>
          </a:xfrm>
          <a:prstGeom prst="ellipse">
            <a:avLst/>
          </a:prstGeom>
          <a:solidFill>
            <a:srgbClr val="16E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82328" y="1527048"/>
            <a:ext cx="603504" cy="603504"/>
          </a:xfrm>
          <a:prstGeom prst="ellipse">
            <a:avLst/>
          </a:prstGeom>
          <a:solidFill>
            <a:srgbClr val="7DF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772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E08C"/>
                </a:solidFill>
                <a:latin typeface="Trebuchet MS"/>
              </a:rPr>
              <a:t>ENERGY INTELLIGENCE · MICROSOFT FABRIC-NATIVE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8503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6200" b="1" i="0">
                <a:solidFill>
                  <a:srgbClr val="7DF2C2"/>
                </a:solidFill>
                <a:latin typeface="Trebuchet MS"/>
              </a:rPr>
              <a:t>EnergyLens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0128"/>
            <a:ext cx="8046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0" i="0">
                <a:solidFill>
                  <a:srgbClr val="7DF2C2"/>
                </a:solidFill>
                <a:latin typeface="Trebuchet MS"/>
              </a:rPr>
              <a:t>Turn every building into a self-diagnosing, decarbonizing asset.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1F7F4"/>
                </a:solidFill>
                <a:latin typeface="Calibri"/>
              </a:rPr>
              <a:t>From raw sensor to audit-ready carbon report — EnergyLens sees, explains and acts on commercial-building energy, on one cloud-native platform with a built-in AI copilot.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486400"/>
            <a:ext cx="3749039" cy="566928"/>
          </a:xfrm>
          <a:prstGeom prst="roundRect">
            <a:avLst/>
          </a:prstGeom>
          <a:solidFill>
            <a:srgbClr val="16E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37490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5130D"/>
                </a:solidFill>
                <a:latin typeface="Calibri"/>
              </a:rPr>
              <a:t>9 analytics pages · web app · AI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FB3AA"/>
                </a:solidFill>
                <a:latin typeface="Trebuchet MS"/>
              </a:rPr>
              <a:t>Variant C — Ink &amp; Pulse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A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16E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E08C"/>
                </a:solidFill>
                <a:latin typeface="Trebuchet MS"/>
              </a:rPr>
              <a:t>REAL-TIME INTELLIGENCE  ·  PAGE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7DF2C2"/>
                </a:solidFill>
                <a:latin typeface="Trebuchet MS"/>
              </a:rPr>
              <a:t>Your building talks back — in real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1F7F4"/>
                </a:solidFill>
                <a:latin typeface="Calibri"/>
              </a:rPr>
              <a:t>EnergyLens listens to every sensor across BACnet, Modbus and MQTT. The moment an air handler drifts or a chiller starts wasting energy, it doesn’t just raise an alarm — it diagnoses the fault, names the probable cause, and puts a euro figure on it.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300984"/>
            <a:ext cx="146304" cy="146304"/>
          </a:xfrm>
          <a:prstGeom prst="ellipse">
            <a:avLst/>
          </a:prstGeom>
          <a:solidFill>
            <a:srgbClr val="16E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DF2C2"/>
                </a:solidFill>
                <a:latin typeface="Calibri"/>
              </a:rPr>
              <a:t>Diagnosis, not just alerts — </a:t>
            </a:r>
            <a:r>
              <a:rPr sz="1350" b="0" i="0">
                <a:solidFill>
                  <a:srgbClr val="F1F7F4"/>
                </a:solidFill>
                <a:latin typeface="Calibri"/>
              </a:rPr>
              <a:t>ASHRAE Guideline 36 logic — 12 rules with confidence and probable cause.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77640"/>
            <a:ext cx="146304" cy="146304"/>
          </a:xfrm>
          <a:prstGeom prst="ellipse">
            <a:avLst/>
          </a:prstGeom>
          <a:solidFill>
            <a:srgbClr val="16E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22776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DF2C2"/>
                </a:solidFill>
                <a:latin typeface="Calibri"/>
              </a:rPr>
              <a:t>Speaks every protocol — </a:t>
            </a:r>
            <a:r>
              <a:rPr sz="1350" b="0" i="0">
                <a:solidFill>
                  <a:srgbClr val="F1F7F4"/>
                </a:solidFill>
                <a:latin typeface="Calibri"/>
              </a:rPr>
              <a:t>BACnet, Modbus, MQTT and ~31 sensor types, normalized automatically.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654296"/>
            <a:ext cx="146304" cy="146304"/>
          </a:xfrm>
          <a:prstGeom prst="ellipse">
            <a:avLst/>
          </a:prstGeom>
          <a:solidFill>
            <a:srgbClr val="16E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99432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DF2C2"/>
                </a:solidFill>
                <a:latin typeface="Calibri"/>
              </a:rPr>
              <a:t>Counts the cost — </a:t>
            </a:r>
            <a:r>
              <a:rPr sz="1350" b="0" i="0">
                <a:solidFill>
                  <a:srgbClr val="F1F7F4"/>
                </a:solidFill>
                <a:latin typeface="Calibri"/>
              </a:rPr>
              <a:t>Every fault carries a live euro estimate, so teams fix what matters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74519"/>
            <a:ext cx="4343400" cy="2697480"/>
          </a:xfrm>
          <a:prstGeom prst="roundRect">
            <a:avLst/>
          </a:prstGeom>
          <a:solidFill>
            <a:srgbClr val="12251D"/>
          </a:solidFill>
          <a:ln w="15875">
            <a:solidFill>
              <a:srgbClr val="16E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788920"/>
            <a:ext cx="237744" cy="237744"/>
          </a:xfrm>
          <a:prstGeom prst="ellipse">
            <a:avLst/>
          </a:prstGeom>
          <a:solidFill>
            <a:srgbClr val="16E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15468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7DF2C2"/>
                </a:solidFill>
                <a:latin typeface="Trebuchet MS"/>
              </a:rPr>
              <a:t>[ screenshot: live IoT page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93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9FB3AA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2103120" cy="1234440"/>
          </a:xfrm>
          <a:prstGeom prst="roundRect">
            <a:avLst/>
          </a:prstGeom>
          <a:solidFill>
            <a:srgbClr val="16E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28032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7DF2C2"/>
                </a:solidFill>
                <a:latin typeface="Trebuchet MS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5321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1F7F4"/>
                </a:solidFill>
                <a:latin typeface="Calibri"/>
              </a:rPr>
              <a:t>diagnostic rules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709160"/>
            <a:ext cx="2103120" cy="1234440"/>
          </a:xfrm>
          <a:prstGeom prst="roundRect">
            <a:avLst/>
          </a:prstGeom>
          <a:solidFill>
            <a:srgbClr val="16E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828032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7DF2C2"/>
                </a:solidFill>
                <a:latin typeface="Trebuchet MS"/>
              </a:rPr>
              <a:t>~31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5321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1F7F4"/>
                </a:solidFill>
                <a:latin typeface="Calibri"/>
              </a:rPr>
              <a:t>sensor types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6400800" cy="457200"/>
          </a:xfrm>
          <a:prstGeom prst="roundRect">
            <a:avLst/>
          </a:prstGeom>
          <a:solidFill>
            <a:srgbClr val="12251D"/>
          </a:solidFill>
          <a:ln w="12700">
            <a:solidFill>
              <a:srgbClr val="1E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DF2C2"/>
                </a:solidFill>
                <a:latin typeface="Calibri"/>
              </a:rPr>
              <a:t>Enterprise-grade fault detection — at mid-market reach.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FB3AA"/>
                </a:solidFill>
                <a:latin typeface="Trebuchet MS"/>
              </a:rPr>
              <a:t>Variant C — Ink &amp; Pulse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A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
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199339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874519"/>
            <a:ext cx="10058400" cy="822960"/>
          </a:xfrm>
          <a:prstGeom prst="rect">
            <a:avLst/>
          </a:prstGeom>
          <a:noFill/>
        </p:spPr>
        <p:txBody>
          <a:bodyPr wrap="square" anchor="t" lIns="0" rIns="0" tIns="0" bIns="0">
            <a:spAutoFit/>
          </a:bodyPr>
          <a:lstStyle/>
          <a:p>
            <a:pPr algn="l">
              <a:lnSpc>
                <a:spcPct val="104000"/>
              </a:lnSpc>
              <a:spcBef>
                <a:spcPts val="0"/>
              </a:spcBef>
              <a:spcAft>
                <a:spcPts val="400"/>
              </a:spcAft>
            </a:pPr>
            <a:r>
              <a:rPr sz="5800" b="1" i="0">
                <a:solidFill>
                  <a:srgbClr val="FFFFFF"/>
                </a:solidFill>
                <a:latin typeface="Trebuchet MS"/>
              </a:rPr>
              <a:t>EnergyLens</a:t>
            </a:r>
          </a:p>
        </p:txBody>
      </p:sp>
      <p:sp>
        <p:nvSpPr>
          <p:cNvPr id="6" name="TextBox 5"/>
          <p:cNvSpPr txBox="1"/>
          <p:nvPr/>
        </p:nvSpPr>
        <p:spPr>
          <a:xfrm>
            <a:off x="941832" y="2971800"/>
            <a:ext cx="10058400" cy="548640"/>
          </a:xfrm>
          <a:prstGeom prst="rect">
            <a:avLst/>
          </a:prstGeom>
          <a:noFill/>
        </p:spPr>
        <p:txBody>
          <a:bodyPr wrap="square" anchor="t" lIns="0" rIns="0" tIns="0" bIns="0">
            <a:spAutoFit/>
          </a:bodyPr>
          <a:lstStyle/>
          <a:p>
            <a:pPr algn="l">
              <a:lnSpc>
                <a:spcPct val="104000"/>
              </a:lnSpc>
              <a:spcBef>
                <a:spcPts val="0"/>
              </a:spcBef>
              <a:spcAft>
                <a:spcPts val="400"/>
              </a:spcAft>
            </a:pPr>
            <a:r>
              <a:rPr sz="2400" b="0" i="0">
                <a:solidFill>
                  <a:srgbClr val="7EE8BE"/>
                </a:solidFill>
                <a:latin typeface="Trebuchet MS"/>
              </a:rPr>
              <a:t>Platform Showcase &amp; Walkthrough</a:t>
            </a:r>
          </a:p>
        </p:txBody>
      </p:sp>
      <p:sp>
        <p:nvSpPr>
          <p:cNvPr id="7" name="TextBox 6"/>
          <p:cNvSpPr txBox="1"/>
          <p:nvPr/>
        </p:nvSpPr>
        <p:spPr>
          <a:xfrm>
            <a:off x="941832" y="3611880"/>
            <a:ext cx="10058400" cy="457200"/>
          </a:xfrm>
          <a:prstGeom prst="rect">
            <a:avLst/>
          </a:prstGeom>
          <a:noFill/>
        </p:spPr>
        <p:txBody>
          <a:bodyPr wrap="square" anchor="t" lIns="0" rIns="0" tIns="0" bIns="0">
            <a:spAutoFit/>
          </a:bodyPr>
          <a:lstStyle/>
          <a:p>
            <a:pPr algn="l">
              <a:lnSpc>
                <a:spcPct val="104000"/>
              </a:lnSpc>
              <a:spcBef>
                <a:spcPts val="0"/>
              </a:spcBef>
              <a:spcAft>
                <a:spcPts val="400"/>
              </a:spcAft>
            </a:pPr>
            <a:r>
              <a:rPr sz="1500" b="0" i="1">
                <a:solidFill>
                  <a:srgbClr val="FFFFFF"/>
                </a:solidFill>
                <a:latin typeface="Calibri"/>
              </a:rPr>
              <a:t>Microsoft Fabric-native energy intelligence for commercial buildings</a:t>
            </a:r>
          </a:p>
        </p:txBody>
      </p:sp>
      <p:sp>
        <p:nvSpPr>
          <p:cNvPr id="8" name="Rectangle 7"/>
          <p:cNvSpPr/>
          <p:nvPr/>
        </p:nvSpPr>
        <p:spPr>
          <a:xfrm>
            <a:off x="941832" y="4434840"/>
            <a:ext cx="6583680" cy="36576"/>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4617720"/>
            <a:ext cx="10058400" cy="365760"/>
          </a:xfrm>
          <a:prstGeom prst="rect">
            <a:avLst/>
          </a:prstGeom>
          <a:noFill/>
        </p:spPr>
        <p:txBody>
          <a:bodyPr wrap="square" anchor="t" lIns="0" rIns="0" tIns="0" bIns="0">
            <a:spAutoFit/>
          </a:bodyPr>
          <a:lstStyle/>
          <a:p>
            <a:pPr algn="l">
              <a:lnSpc>
                <a:spcPct val="104000"/>
              </a:lnSpc>
              <a:spcBef>
                <a:spcPts val="0"/>
              </a:spcBef>
              <a:spcAft>
                <a:spcPts val="400"/>
              </a:spcAft>
            </a:pPr>
            <a:r>
              <a:rPr sz="1400" b="0" i="0">
                <a:solidFill>
                  <a:srgbClr val="FFFFFF"/>
                </a:solidFill>
                <a:latin typeface="Calibri"/>
              </a:rPr>
              <a:t>Prepared for Dr. Kaddour Chelabi (BSBI) — mentor meeting</a:t>
            </a:r>
          </a:p>
        </p:txBody>
      </p:sp>
      <p:sp>
        <p:nvSpPr>
          <p:cNvPr id="10" name="TextBox 9"/>
          <p:cNvSpPr txBox="1"/>
          <p:nvPr/>
        </p:nvSpPr>
        <p:spPr>
          <a:xfrm>
            <a:off x="941832" y="4983480"/>
            <a:ext cx="10515600" cy="365760"/>
          </a:xfrm>
          <a:prstGeom prst="rect">
            <a:avLst/>
          </a:prstGeom>
          <a:noFill/>
        </p:spPr>
        <p:txBody>
          <a:bodyPr wrap="square" anchor="t" lIns="0" rIns="0" tIns="0" bIns="0">
            <a:spAutoFit/>
          </a:bodyPr>
          <a:lstStyle/>
          <a:p>
            <a:pPr algn="l">
              <a:lnSpc>
                <a:spcPct val="104000"/>
              </a:lnSpc>
              <a:spcBef>
                <a:spcPts val="0"/>
              </a:spcBef>
              <a:spcAft>
                <a:spcPts val="400"/>
              </a:spcAft>
            </a:pPr>
            <a:r>
              <a:rPr sz="1300" b="0" i="0">
                <a:solidFill>
                  <a:srgbClr val="7EE8BE"/>
                </a:solidFill>
                <a:latin typeface="Calibri"/>
              </a:rPr>
              <a:t>Ali Mert Özdemir — Founder · M.Sc. Energy Management (BSBI) · Microsoft DP-600</a:t>
            </a:r>
          </a:p>
        </p:txBody>
      </p:sp>
      <p:sp>
        <p:nvSpPr>
          <p:cNvPr id="11" name="TextBox 10"/>
          <p:cNvSpPr txBox="1"/>
          <p:nvPr/>
        </p:nvSpPr>
        <p:spPr>
          <a:xfrm>
            <a:off x="941832" y="5321808"/>
            <a:ext cx="10058400" cy="365760"/>
          </a:xfrm>
          <a:prstGeom prst="rect">
            <a:avLst/>
          </a:prstGeom>
          <a:noFill/>
        </p:spPr>
        <p:txBody>
          <a:bodyPr wrap="square" anchor="t" lIns="0" rIns="0" tIns="0" bIns="0">
            <a:spAutoFit/>
          </a:bodyPr>
          <a:lstStyle/>
          <a:p>
            <a:pPr algn="l">
              <a:lnSpc>
                <a:spcPct val="104000"/>
              </a:lnSpc>
              <a:spcBef>
                <a:spcPts val="0"/>
              </a:spcBef>
              <a:spcAft>
                <a:spcPts val="400"/>
              </a:spcAft>
            </a:pPr>
            <a:r>
              <a:rPr sz="1200" b="0" i="0">
                <a:solidFill>
                  <a:srgbClr val="7EE8BE"/>
                </a:solidFill>
                <a:latin typeface="Calibri"/>
              </a:rPr>
              <a:t>Demo video: https://youtu.be/0IiqssHYtkY</a:t>
            </a:r>
          </a:p>
        </p:txBody>
      </p:sp>
      <p:sp>
        <p:nvSpPr>
          <p:cNvPr id="12" name="TextBox 11"/>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7EE8BE"/>
                </a:solidFill>
                <a:latin typeface="Trebuchet MS"/>
              </a:rPr>
              <a:t>EnergyLens</a:t>
            </a:r>
            <a:r>
              <a:rPr sz="900" b="0" i="0">
                <a:solidFill>
                  <a:srgbClr val="7EE8BE"/>
                </a:solidFill>
                <a:latin typeface="Calibri"/>
              </a:rPr>
              <a:t>   Platform Showcase</a:t>
            </a:r>
          </a:p>
        </p:txBody>
      </p:sp>
      <p:sp>
        <p:nvSpPr>
          <p:cNvPr id="13" name="TextBox 12"/>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7EE8BE"/>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WHY THIS MATTERS</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Commercial buildings are the blind spot of the energy transition</a:t>
            </a:r>
          </a:p>
        </p:txBody>
      </p:sp>
      <p:sp>
        <p:nvSpPr>
          <p:cNvPr id="6" name="Rounded Rectangle 5"/>
          <p:cNvSpPr/>
          <p:nvPr/>
        </p:nvSpPr>
        <p:spPr>
          <a:xfrm>
            <a:off x="502920" y="1920240"/>
            <a:ext cx="3611880"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21408"/>
            <a:ext cx="3154680" cy="91440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0B6E4F"/>
                </a:solidFill>
                <a:latin typeface="Trebuchet MS"/>
              </a:rPr>
              <a:t>40%</a:t>
            </a:r>
          </a:p>
        </p:txBody>
      </p:sp>
      <p:sp>
        <p:nvSpPr>
          <p:cNvPr id="8" name="TextBox 7"/>
          <p:cNvSpPr txBox="1"/>
          <p:nvPr/>
        </p:nvSpPr>
        <p:spPr>
          <a:xfrm>
            <a:off x="749808" y="2999232"/>
            <a:ext cx="3118104" cy="64008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202A37"/>
                </a:solidFill>
                <a:latin typeface="Calibri"/>
              </a:rPr>
              <a:t>of EU energy is consumed by buildings</a:t>
            </a:r>
          </a:p>
        </p:txBody>
      </p:sp>
      <p:sp>
        <p:nvSpPr>
          <p:cNvPr id="9" name="TextBox 8"/>
          <p:cNvSpPr txBox="1"/>
          <p:nvPr/>
        </p:nvSpPr>
        <p:spPr>
          <a:xfrm>
            <a:off x="749808" y="3310128"/>
            <a:ext cx="3118104" cy="365760"/>
          </a:xfrm>
          <a:prstGeom prst="rect">
            <a:avLst/>
          </a:prstGeom>
          <a:noFill/>
        </p:spPr>
        <p:txBody>
          <a:bodyPr wrap="square" anchor="t" lIns="0" rIns="0" tIns="0" bIns="0">
            <a:spAutoFit/>
          </a:bodyPr>
          <a:lstStyle/>
          <a:p>
            <a:pPr algn="l">
              <a:lnSpc>
                <a:spcPct val="104000"/>
              </a:lnSpc>
              <a:spcBef>
                <a:spcPts val="0"/>
              </a:spcBef>
              <a:spcAft>
                <a:spcPts val="400"/>
              </a:spcAft>
            </a:pPr>
            <a:r>
              <a:rPr sz="1100" b="0" i="0">
                <a:solidFill>
                  <a:srgbClr val="6B7280"/>
                </a:solidFill>
                <a:latin typeface="Calibri"/>
              </a:rPr>
              <a:t>(residential + non-residential)</a:t>
            </a:r>
          </a:p>
        </p:txBody>
      </p:sp>
      <p:sp>
        <p:nvSpPr>
          <p:cNvPr id="10" name="Rounded Rectangle 9"/>
          <p:cNvSpPr/>
          <p:nvPr/>
        </p:nvSpPr>
        <p:spPr>
          <a:xfrm>
            <a:off x="4288536" y="1920240"/>
            <a:ext cx="3611880"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121408"/>
            <a:ext cx="3154680" cy="91440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0B6E4F"/>
                </a:solidFill>
                <a:latin typeface="Trebuchet MS"/>
              </a:rPr>
              <a:t>36%</a:t>
            </a:r>
          </a:p>
        </p:txBody>
      </p:sp>
      <p:sp>
        <p:nvSpPr>
          <p:cNvPr id="12" name="TextBox 11"/>
          <p:cNvSpPr txBox="1"/>
          <p:nvPr/>
        </p:nvSpPr>
        <p:spPr>
          <a:xfrm>
            <a:off x="4535424" y="2999232"/>
            <a:ext cx="3118104" cy="64008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202A37"/>
                </a:solidFill>
                <a:latin typeface="Calibri"/>
              </a:rPr>
              <a:t>of EU energy-related CO₂ emissions</a:t>
            </a:r>
          </a:p>
        </p:txBody>
      </p:sp>
      <p:sp>
        <p:nvSpPr>
          <p:cNvPr id="13" name="TextBox 12"/>
          <p:cNvSpPr txBox="1"/>
          <p:nvPr/>
        </p:nvSpPr>
        <p:spPr>
          <a:xfrm>
            <a:off x="4535424" y="3310128"/>
            <a:ext cx="3118104" cy="365760"/>
          </a:xfrm>
          <a:prstGeom prst="rect">
            <a:avLst/>
          </a:prstGeom>
          <a:noFill/>
        </p:spPr>
        <p:txBody>
          <a:bodyPr wrap="square" anchor="t" lIns="0" rIns="0" tIns="0" bIns="0">
            <a:spAutoFit/>
          </a:bodyPr>
          <a:lstStyle/>
          <a:p>
            <a:pPr algn="l">
              <a:lnSpc>
                <a:spcPct val="104000"/>
              </a:lnSpc>
              <a:spcBef>
                <a:spcPts val="0"/>
              </a:spcBef>
              <a:spcAft>
                <a:spcPts val="400"/>
              </a:spcAft>
            </a:pPr>
            <a:r>
              <a:rPr sz="1100" b="0" i="0">
                <a:solidFill>
                  <a:srgbClr val="6B7280"/>
                </a:solidFill>
                <a:latin typeface="Calibri"/>
              </a:rPr>
              <a:t>the single largest sector</a:t>
            </a:r>
          </a:p>
        </p:txBody>
      </p:sp>
      <p:sp>
        <p:nvSpPr>
          <p:cNvPr id="14" name="Rounded Rectangle 13"/>
          <p:cNvSpPr/>
          <p:nvPr/>
        </p:nvSpPr>
        <p:spPr>
          <a:xfrm>
            <a:off x="8074152" y="1920240"/>
            <a:ext cx="3611880"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121408"/>
            <a:ext cx="3154680" cy="91440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0B6E4F"/>
                </a:solidFill>
                <a:latin typeface="Trebuchet MS"/>
              </a:rPr>
              <a:t>2030–2033</a:t>
            </a:r>
          </a:p>
        </p:txBody>
      </p:sp>
      <p:sp>
        <p:nvSpPr>
          <p:cNvPr id="16" name="TextBox 15"/>
          <p:cNvSpPr txBox="1"/>
          <p:nvPr/>
        </p:nvSpPr>
        <p:spPr>
          <a:xfrm>
            <a:off x="8321040" y="2999232"/>
            <a:ext cx="3118104" cy="64008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202A37"/>
                </a:solidFill>
                <a:latin typeface="Calibri"/>
              </a:rPr>
              <a:t>EU minimum performance deadlines</a:t>
            </a:r>
          </a:p>
        </p:txBody>
      </p:sp>
      <p:sp>
        <p:nvSpPr>
          <p:cNvPr id="17" name="TextBox 16"/>
          <p:cNvSpPr txBox="1"/>
          <p:nvPr/>
        </p:nvSpPr>
        <p:spPr>
          <a:xfrm>
            <a:off x="8321040" y="3310128"/>
            <a:ext cx="3118104" cy="365760"/>
          </a:xfrm>
          <a:prstGeom prst="rect">
            <a:avLst/>
          </a:prstGeom>
          <a:noFill/>
        </p:spPr>
        <p:txBody>
          <a:bodyPr wrap="square" anchor="t" lIns="0" rIns="0" tIns="0" bIns="0">
            <a:spAutoFit/>
          </a:bodyPr>
          <a:lstStyle/>
          <a:p>
            <a:pPr algn="l">
              <a:lnSpc>
                <a:spcPct val="104000"/>
              </a:lnSpc>
              <a:spcBef>
                <a:spcPts val="0"/>
              </a:spcBef>
              <a:spcAft>
                <a:spcPts val="400"/>
              </a:spcAft>
            </a:pPr>
            <a:r>
              <a:rPr sz="1100" b="0" i="0">
                <a:solidFill>
                  <a:srgbClr val="6B7280"/>
                </a:solidFill>
                <a:latin typeface="Calibri"/>
              </a:rPr>
              <a:t>EPBD MEPS now binding</a:t>
            </a:r>
          </a:p>
        </p:txBody>
      </p:sp>
      <p:sp>
        <p:nvSpPr>
          <p:cNvPr id="18" name="TextBox 17"/>
          <p:cNvSpPr txBox="1"/>
          <p:nvPr/>
        </p:nvSpPr>
        <p:spPr>
          <a:xfrm>
            <a:off x="502920" y="4069080"/>
            <a:ext cx="11155680" cy="2011680"/>
          </a:xfrm>
          <a:prstGeom prst="rect">
            <a:avLst/>
          </a:prstGeom>
          <a:noFill/>
        </p:spPr>
        <p:txBody>
          <a:bodyPr wrap="square" anchor="t" lIns="0" rIns="0" tIns="0" bIns="0">
            <a:spAutoFit/>
          </a:bodyPr>
          <a:lstStyle/>
          <a:p>
            <a:pPr algn="l">
              <a:lnSpc>
                <a:spcPct val="104000"/>
              </a:lnSpc>
              <a:spcBef>
                <a:spcPts val="0"/>
              </a:spcBef>
              <a:spcAft>
                <a:spcPts val="800"/>
              </a:spcAft>
            </a:pPr>
            <a:r>
              <a:rPr sz="1700" b="1" i="0">
                <a:solidFill>
                  <a:srgbClr val="0B6E4F"/>
                </a:solidFill>
                <a:latin typeface="Calibri"/>
              </a:rPr>
              <a:t>Yet most portfolios still run on monthly bills and spreadsheets</a:t>
            </a:r>
          </a:p>
          <a:p>
            <a:pPr algn="l">
              <a:lnSpc>
                <a:spcPct val="104000"/>
              </a:lnSpc>
              <a:spcBef>
                <a:spcPts val="0"/>
              </a:spcBef>
              <a:spcAft>
                <a:spcPts val="800"/>
              </a:spcAft>
            </a:pPr>
            <a:r>
              <a:rPr sz="1450" b="0" i="0">
                <a:solidFill>
                  <a:srgbClr val="202A37"/>
                </a:solidFill>
                <a:latin typeface="Calibri"/>
              </a:rPr>
              <a:t>They are blind to anomalies, to regulatory risk (EPBD, EnEfG, GEG, CSRD, the EU Battery Regulation), and to decarbonization opportunities. As EU rules tighten through 2033, owners face rising compliance exposure with no modern tooling — exactly the gap EnergyLens fills for the mid-market.</a:t>
            </a:r>
          </a:p>
        </p:txBody>
      </p:sp>
      <p:sp>
        <p:nvSpPr>
          <p:cNvPr id="19" name="TextBox 18"/>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20" name="TextBox 19"/>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THE PLATFORM IN ONE LINE</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An energy intelligence &amp; decision-support platform on Microsoft Fabric</a:t>
            </a:r>
          </a:p>
        </p:txBody>
      </p:sp>
      <p:sp>
        <p:nvSpPr>
          <p:cNvPr id="6" name="TextBox 5"/>
          <p:cNvSpPr txBox="1"/>
          <p:nvPr/>
        </p:nvSpPr>
        <p:spPr>
          <a:xfrm>
            <a:off x="502920" y="1783080"/>
            <a:ext cx="11155680" cy="548640"/>
          </a:xfrm>
          <a:prstGeom prst="rect">
            <a:avLst/>
          </a:prstGeom>
          <a:noFill/>
        </p:spPr>
        <p:txBody>
          <a:bodyPr wrap="square" anchor="t" lIns="0" rIns="0" tIns="0" bIns="0">
            <a:spAutoFit/>
          </a:bodyPr>
          <a:lstStyle/>
          <a:p>
            <a:pPr algn="l">
              <a:lnSpc>
                <a:spcPct val="104000"/>
              </a:lnSpc>
              <a:spcBef>
                <a:spcPts val="0"/>
              </a:spcBef>
              <a:spcAft>
                <a:spcPts val="400"/>
              </a:spcAft>
            </a:pPr>
            <a:r>
              <a:rPr sz="1500" b="0" i="0">
                <a:solidFill>
                  <a:srgbClr val="202A37"/>
                </a:solidFill>
                <a:latin typeface="Calibri"/>
              </a:rPr>
              <a:t>It unifies multi-building energy data, scores it against EU regulation, and surfaces it through three layers:</a:t>
            </a:r>
          </a:p>
        </p:txBody>
      </p:sp>
      <p:sp>
        <p:nvSpPr>
          <p:cNvPr id="7" name="Rounded Rectangle 6"/>
          <p:cNvSpPr/>
          <p:nvPr/>
        </p:nvSpPr>
        <p:spPr>
          <a:xfrm>
            <a:off x="502920" y="2468880"/>
            <a:ext cx="3602736" cy="32004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743200"/>
            <a:ext cx="182880" cy="182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035808"/>
            <a:ext cx="3054096" cy="548640"/>
          </a:xfrm>
          <a:prstGeom prst="rect">
            <a:avLst/>
          </a:prstGeom>
          <a:noFill/>
        </p:spPr>
        <p:txBody>
          <a:bodyPr wrap="square" anchor="t" lIns="0" rIns="0" tIns="0" bIns="0">
            <a:spAutoFit/>
          </a:bodyPr>
          <a:lstStyle/>
          <a:p>
            <a:pPr algn="l">
              <a:lnSpc>
                <a:spcPct val="104000"/>
              </a:lnSpc>
              <a:spcBef>
                <a:spcPts val="0"/>
              </a:spcBef>
              <a:spcAft>
                <a:spcPts val="400"/>
              </a:spcAft>
            </a:pPr>
            <a:r>
              <a:rPr sz="1700" b="1" i="0">
                <a:solidFill>
                  <a:srgbClr val="0B6E4F"/>
                </a:solidFill>
                <a:latin typeface="Trebuchet MS"/>
              </a:rPr>
              <a:t>1  Power BI report</a:t>
            </a:r>
          </a:p>
        </p:txBody>
      </p:sp>
      <p:sp>
        <p:nvSpPr>
          <p:cNvPr id="10" name="TextBox 9"/>
          <p:cNvSpPr txBox="1"/>
          <p:nvPr/>
        </p:nvSpPr>
        <p:spPr>
          <a:xfrm>
            <a:off x="777240" y="3611880"/>
            <a:ext cx="3054096" cy="1920240"/>
          </a:xfrm>
          <a:prstGeom prst="rect">
            <a:avLst/>
          </a:prstGeom>
          <a:noFill/>
        </p:spPr>
        <p:txBody>
          <a:bodyPr wrap="square" anchor="t" lIns="0" rIns="0" tIns="0" bIns="0">
            <a:spAutoFit/>
          </a:bodyPr>
          <a:lstStyle/>
          <a:p>
            <a:pPr algn="l">
              <a:lnSpc>
                <a:spcPct val="104000"/>
              </a:lnSpc>
              <a:spcBef>
                <a:spcPts val="0"/>
              </a:spcBef>
              <a:spcAft>
                <a:spcPts val="400"/>
              </a:spcAft>
            </a:pPr>
            <a:r>
              <a:rPr sz="1300" b="0" i="0">
                <a:solidFill>
                  <a:srgbClr val="202A37"/>
                </a:solidFill>
                <a:latin typeface="Calibri"/>
              </a:rPr>
              <a:t>9 analytical pages — consumption, anomalies, forecasting, sustainability (ESG/GHG), HVAC, real-time IoT, battery ROI.</a:t>
            </a:r>
          </a:p>
        </p:txBody>
      </p:sp>
      <p:sp>
        <p:nvSpPr>
          <p:cNvPr id="11" name="Rounded Rectangle 10"/>
          <p:cNvSpPr/>
          <p:nvPr/>
        </p:nvSpPr>
        <p:spPr>
          <a:xfrm>
            <a:off x="4288536" y="2468880"/>
            <a:ext cx="3602736" cy="32004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62856" y="2743200"/>
            <a:ext cx="182880" cy="182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3035808"/>
            <a:ext cx="3054096" cy="548640"/>
          </a:xfrm>
          <a:prstGeom prst="rect">
            <a:avLst/>
          </a:prstGeom>
          <a:noFill/>
        </p:spPr>
        <p:txBody>
          <a:bodyPr wrap="square" anchor="t" lIns="0" rIns="0" tIns="0" bIns="0">
            <a:spAutoFit/>
          </a:bodyPr>
          <a:lstStyle/>
          <a:p>
            <a:pPr algn="l">
              <a:lnSpc>
                <a:spcPct val="104000"/>
              </a:lnSpc>
              <a:spcBef>
                <a:spcPts val="0"/>
              </a:spcBef>
              <a:spcAft>
                <a:spcPts val="400"/>
              </a:spcAft>
            </a:pPr>
            <a:r>
              <a:rPr sz="1700" b="1" i="0">
                <a:solidFill>
                  <a:srgbClr val="0B6E4F"/>
                </a:solidFill>
                <a:latin typeface="Trebuchet MS"/>
              </a:rPr>
              <a:t>2  Web application</a:t>
            </a:r>
          </a:p>
        </p:txBody>
      </p:sp>
      <p:sp>
        <p:nvSpPr>
          <p:cNvPr id="14" name="TextBox 13"/>
          <p:cNvSpPr txBox="1"/>
          <p:nvPr/>
        </p:nvSpPr>
        <p:spPr>
          <a:xfrm>
            <a:off x="4562856" y="3611880"/>
            <a:ext cx="3054096" cy="1920240"/>
          </a:xfrm>
          <a:prstGeom prst="rect">
            <a:avLst/>
          </a:prstGeom>
          <a:noFill/>
        </p:spPr>
        <p:txBody>
          <a:bodyPr wrap="square" anchor="t" lIns="0" rIns="0" tIns="0" bIns="0">
            <a:spAutoFit/>
          </a:bodyPr>
          <a:lstStyle/>
          <a:p>
            <a:pPr algn="l">
              <a:lnSpc>
                <a:spcPct val="104000"/>
              </a:lnSpc>
              <a:spcBef>
                <a:spcPts val="0"/>
              </a:spcBef>
              <a:spcAft>
                <a:spcPts val="400"/>
              </a:spcAft>
            </a:pPr>
            <a:r>
              <a:rPr sz="1300" b="0" i="0">
                <a:solidFill>
                  <a:srgbClr val="202A37"/>
                </a:solidFill>
                <a:latin typeface="Calibri"/>
              </a:rPr>
              <a:t>Next.js + FastAPI + PostgreSQL. Navigation, access control, custom Fabric pages, PDF export, audit log.</a:t>
            </a:r>
          </a:p>
        </p:txBody>
      </p:sp>
      <p:sp>
        <p:nvSpPr>
          <p:cNvPr id="15" name="Rounded Rectangle 14"/>
          <p:cNvSpPr/>
          <p:nvPr/>
        </p:nvSpPr>
        <p:spPr>
          <a:xfrm>
            <a:off x="8074152" y="2468880"/>
            <a:ext cx="3602736" cy="32004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48472" y="2743200"/>
            <a:ext cx="182880" cy="182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2" y="3035808"/>
            <a:ext cx="3054096" cy="548640"/>
          </a:xfrm>
          <a:prstGeom prst="rect">
            <a:avLst/>
          </a:prstGeom>
          <a:noFill/>
        </p:spPr>
        <p:txBody>
          <a:bodyPr wrap="square" anchor="t" lIns="0" rIns="0" tIns="0" bIns="0">
            <a:spAutoFit/>
          </a:bodyPr>
          <a:lstStyle/>
          <a:p>
            <a:pPr algn="l">
              <a:lnSpc>
                <a:spcPct val="104000"/>
              </a:lnSpc>
              <a:spcBef>
                <a:spcPts val="0"/>
              </a:spcBef>
              <a:spcAft>
                <a:spcPts val="400"/>
              </a:spcAft>
            </a:pPr>
            <a:r>
              <a:rPr sz="1700" b="1" i="0">
                <a:solidFill>
                  <a:srgbClr val="0B6E4F"/>
                </a:solidFill>
                <a:latin typeface="Trebuchet MS"/>
              </a:rPr>
              <a:t>3  AI Copilot</a:t>
            </a:r>
          </a:p>
        </p:txBody>
      </p:sp>
      <p:sp>
        <p:nvSpPr>
          <p:cNvPr id="18" name="TextBox 17"/>
          <p:cNvSpPr txBox="1"/>
          <p:nvPr/>
        </p:nvSpPr>
        <p:spPr>
          <a:xfrm>
            <a:off x="8348472" y="3611880"/>
            <a:ext cx="3054096" cy="1920240"/>
          </a:xfrm>
          <a:prstGeom prst="rect">
            <a:avLst/>
          </a:prstGeom>
          <a:noFill/>
        </p:spPr>
        <p:txBody>
          <a:bodyPr wrap="square" anchor="t" lIns="0" rIns="0" tIns="0" bIns="0">
            <a:spAutoFit/>
          </a:bodyPr>
          <a:lstStyle/>
          <a:p>
            <a:pPr algn="l">
              <a:lnSpc>
                <a:spcPct val="104000"/>
              </a:lnSpc>
              <a:spcBef>
                <a:spcPts val="0"/>
              </a:spcBef>
              <a:spcAft>
                <a:spcPts val="400"/>
              </a:spcAft>
            </a:pPr>
            <a:r>
              <a:rPr sz="1300" b="0" i="0">
                <a:solidFill>
                  <a:srgbClr val="202A37"/>
                </a:solidFill>
                <a:latin typeface="Calibri"/>
              </a:rPr>
              <a:t>Answers questions over the Lakehouse using tool use — real queries, not text summaries — and can act.</a:t>
            </a:r>
          </a:p>
        </p:txBody>
      </p:sp>
      <p:sp>
        <p:nvSpPr>
          <p:cNvPr id="19" name="TextBox 18"/>
          <p:cNvSpPr txBox="1"/>
          <p:nvPr/>
        </p:nvSpPr>
        <p:spPr>
          <a:xfrm>
            <a:off x="502920" y="5897880"/>
            <a:ext cx="11155680" cy="457200"/>
          </a:xfrm>
          <a:prstGeom prst="rect">
            <a:avLst/>
          </a:prstGeom>
          <a:noFill/>
        </p:spPr>
        <p:txBody>
          <a:bodyPr wrap="square" anchor="t" lIns="0" rIns="0" tIns="0" bIns="0">
            <a:spAutoFit/>
          </a:bodyPr>
          <a:lstStyle/>
          <a:p>
            <a:pPr algn="l">
              <a:lnSpc>
                <a:spcPct val="104000"/>
              </a:lnSpc>
              <a:spcBef>
                <a:spcPts val="0"/>
              </a:spcBef>
              <a:spcAft>
                <a:spcPts val="400"/>
              </a:spcAft>
            </a:pPr>
            <a:r>
              <a:rPr sz="1350" b="0" i="1">
                <a:solidFill>
                  <a:srgbClr val="6B7280"/>
                </a:solidFill>
                <a:latin typeface="Calibri"/>
              </a:rPr>
              <a:t>On top: EU compliance scoring — CRREM decarbonization pathways, EnEfG, GEG, and CSRD / ESRS E1 reporting.</a:t>
            </a:r>
          </a:p>
        </p:txBody>
      </p:sp>
      <p:sp>
        <p:nvSpPr>
          <p:cNvPr id="20" name="TextBox 19"/>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21" name="TextBox 20"/>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HOW IT'S BUILT</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Medallion architecture on OneLake, three parallel paths into Fabric</a:t>
            </a:r>
          </a:p>
        </p:txBody>
      </p:sp>
      <p:sp>
        <p:nvSpPr>
          <p:cNvPr id="6" name="Rounded Rectangle 5"/>
          <p:cNvSpPr/>
          <p:nvPr/>
        </p:nvSpPr>
        <p:spPr>
          <a:xfrm>
            <a:off x="502920" y="1874519"/>
            <a:ext cx="1920240" cy="841248"/>
          </a:xfrm>
          <a:prstGeom prst="round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84247"/>
            <a:ext cx="1691640" cy="640080"/>
          </a:xfrm>
          <a:prstGeom prst="rect">
            <a:avLst/>
          </a:prstGeom>
          <a:noFill/>
        </p:spPr>
        <p:txBody>
          <a:bodyPr wrap="square" anchor="ctr" lIns="0" rIns="0" tIns="0" bIns="0">
            <a:spAutoFit/>
          </a:bodyPr>
          <a:lstStyle/>
          <a:p>
            <a:pPr algn="l">
              <a:lnSpc>
                <a:spcPct val="104000"/>
              </a:lnSpc>
              <a:spcBef>
                <a:spcPts val="0"/>
              </a:spcBef>
              <a:spcAft>
                <a:spcPts val="400"/>
              </a:spcAft>
            </a:pPr>
            <a:r>
              <a:rPr sz="1500" b="1" i="0">
                <a:solidFill>
                  <a:srgbClr val="FFFFFF"/>
                </a:solidFill>
                <a:latin typeface="Trebuchet MS"/>
              </a:rPr>
              <a:t>SOURCES</a:t>
            </a:r>
          </a:p>
        </p:txBody>
      </p:sp>
      <p:sp>
        <p:nvSpPr>
          <p:cNvPr id="8" name="TextBox 7"/>
          <p:cNvSpPr txBox="1"/>
          <p:nvPr/>
        </p:nvSpPr>
        <p:spPr>
          <a:xfrm>
            <a:off x="2606040" y="1920239"/>
            <a:ext cx="9144000" cy="777240"/>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Meters · bills · BMS sensors (BACnet/Modbus/MQTT) · weather (Open-Meteo) · prices (ENTSO-E) · grid CO₂</a:t>
            </a:r>
          </a:p>
        </p:txBody>
      </p:sp>
      <p:sp>
        <p:nvSpPr>
          <p:cNvPr id="9" name="Rounded Rectangle 8"/>
          <p:cNvSpPr/>
          <p:nvPr/>
        </p:nvSpPr>
        <p:spPr>
          <a:xfrm>
            <a:off x="502920" y="2843783"/>
            <a:ext cx="1920240" cy="84124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953511"/>
            <a:ext cx="1691640" cy="640080"/>
          </a:xfrm>
          <a:prstGeom prst="rect">
            <a:avLst/>
          </a:prstGeom>
          <a:noFill/>
        </p:spPr>
        <p:txBody>
          <a:bodyPr wrap="square" anchor="ctr" lIns="0" rIns="0" tIns="0" bIns="0">
            <a:spAutoFit/>
          </a:bodyPr>
          <a:lstStyle/>
          <a:p>
            <a:pPr algn="l">
              <a:lnSpc>
                <a:spcPct val="104000"/>
              </a:lnSpc>
              <a:spcBef>
                <a:spcPts val="0"/>
              </a:spcBef>
              <a:spcAft>
                <a:spcPts val="400"/>
              </a:spcAft>
            </a:pPr>
            <a:r>
              <a:rPr sz="1500" b="1" i="0">
                <a:solidFill>
                  <a:srgbClr val="FFFFFF"/>
                </a:solidFill>
                <a:latin typeface="Trebuchet MS"/>
              </a:rPr>
              <a:t>BRONZE</a:t>
            </a:r>
          </a:p>
        </p:txBody>
      </p:sp>
      <p:sp>
        <p:nvSpPr>
          <p:cNvPr id="11" name="TextBox 10"/>
          <p:cNvSpPr txBox="1"/>
          <p:nvPr/>
        </p:nvSpPr>
        <p:spPr>
          <a:xfrm>
            <a:off x="2606040" y="2889503"/>
            <a:ext cx="9144000" cy="777240"/>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Raw, as ingested</a:t>
            </a:r>
          </a:p>
        </p:txBody>
      </p:sp>
      <p:sp>
        <p:nvSpPr>
          <p:cNvPr id="12" name="Rounded Rectangle 11"/>
          <p:cNvSpPr/>
          <p:nvPr/>
        </p:nvSpPr>
        <p:spPr>
          <a:xfrm>
            <a:off x="502920" y="3813047"/>
            <a:ext cx="1920240" cy="84124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922775"/>
            <a:ext cx="1691640" cy="640080"/>
          </a:xfrm>
          <a:prstGeom prst="rect">
            <a:avLst/>
          </a:prstGeom>
          <a:noFill/>
        </p:spPr>
        <p:txBody>
          <a:bodyPr wrap="square" anchor="ctr" lIns="0" rIns="0" tIns="0" bIns="0">
            <a:spAutoFit/>
          </a:bodyPr>
          <a:lstStyle/>
          <a:p>
            <a:pPr algn="l">
              <a:lnSpc>
                <a:spcPct val="104000"/>
              </a:lnSpc>
              <a:spcBef>
                <a:spcPts val="0"/>
              </a:spcBef>
              <a:spcAft>
                <a:spcPts val="400"/>
              </a:spcAft>
            </a:pPr>
            <a:r>
              <a:rPr sz="1500" b="1" i="0">
                <a:solidFill>
                  <a:srgbClr val="FFFFFF"/>
                </a:solidFill>
                <a:latin typeface="Trebuchet MS"/>
              </a:rPr>
              <a:t>SILVER</a:t>
            </a:r>
          </a:p>
        </p:txBody>
      </p:sp>
      <p:sp>
        <p:nvSpPr>
          <p:cNvPr id="14" name="TextBox 13"/>
          <p:cNvSpPr txBox="1"/>
          <p:nvPr/>
        </p:nvSpPr>
        <p:spPr>
          <a:xfrm>
            <a:off x="2606040" y="3858767"/>
            <a:ext cx="9144000" cy="777240"/>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Cleaned, normalized, validated · single reference layer for factors &amp; tariffs</a:t>
            </a:r>
          </a:p>
        </p:txBody>
      </p:sp>
      <p:sp>
        <p:nvSpPr>
          <p:cNvPr id="15" name="Rounded Rectangle 14"/>
          <p:cNvSpPr/>
          <p:nvPr/>
        </p:nvSpPr>
        <p:spPr>
          <a:xfrm>
            <a:off x="502920" y="4782311"/>
            <a:ext cx="1920240" cy="84124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892039"/>
            <a:ext cx="1691640" cy="640080"/>
          </a:xfrm>
          <a:prstGeom prst="rect">
            <a:avLst/>
          </a:prstGeom>
          <a:noFill/>
        </p:spPr>
        <p:txBody>
          <a:bodyPr wrap="square" anchor="ctr" lIns="0" rIns="0" tIns="0" bIns="0">
            <a:spAutoFit/>
          </a:bodyPr>
          <a:lstStyle/>
          <a:p>
            <a:pPr algn="l">
              <a:lnSpc>
                <a:spcPct val="104000"/>
              </a:lnSpc>
              <a:spcBef>
                <a:spcPts val="0"/>
              </a:spcBef>
              <a:spcAft>
                <a:spcPts val="400"/>
              </a:spcAft>
            </a:pPr>
            <a:r>
              <a:rPr sz="1500" b="1" i="0">
                <a:solidFill>
                  <a:srgbClr val="FFFFFF"/>
                </a:solidFill>
                <a:latin typeface="Trebuchet MS"/>
              </a:rPr>
              <a:t>GOLD</a:t>
            </a:r>
          </a:p>
        </p:txBody>
      </p:sp>
      <p:sp>
        <p:nvSpPr>
          <p:cNvPr id="17" name="TextBox 16"/>
          <p:cNvSpPr txBox="1"/>
          <p:nvPr/>
        </p:nvSpPr>
        <p:spPr>
          <a:xfrm>
            <a:off x="2606040" y="4828031"/>
            <a:ext cx="9144000" cy="777240"/>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Business-ready KPIs, anomalies, simulations</a:t>
            </a:r>
          </a:p>
        </p:txBody>
      </p:sp>
      <p:sp>
        <p:nvSpPr>
          <p:cNvPr id="18" name="Rounded Rectangle 17"/>
          <p:cNvSpPr/>
          <p:nvPr/>
        </p:nvSpPr>
        <p:spPr>
          <a:xfrm>
            <a:off x="502920" y="5897880"/>
            <a:ext cx="11201400" cy="603504"/>
          </a:xfrm>
          <a:prstGeom prst="roundRect">
            <a:avLst/>
          </a:prstGeom>
          <a:solidFill>
            <a:srgbClr val="ECF5F1"/>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97880"/>
            <a:ext cx="10972800" cy="603504"/>
          </a:xfrm>
          <a:prstGeom prst="rect">
            <a:avLst/>
          </a:prstGeom>
          <a:noFill/>
        </p:spPr>
        <p:txBody>
          <a:bodyPr wrap="square" anchor="ctr" lIns="0" rIns="0" tIns="0" bIns="0">
            <a:spAutoFit/>
          </a:bodyPr>
          <a:lstStyle/>
          <a:p>
            <a:pPr algn="l">
              <a:lnSpc>
                <a:spcPct val="104000"/>
              </a:lnSpc>
              <a:spcBef>
                <a:spcPts val="0"/>
              </a:spcBef>
              <a:spcAft>
                <a:spcPts val="400"/>
              </a:spcAft>
            </a:pPr>
            <a:r>
              <a:rPr sz="1300" b="1" i="0">
                <a:solidFill>
                  <a:srgbClr val="0B6E4F"/>
                </a:solidFill>
                <a:latin typeface="Calibri"/>
              </a:rPr>
              <a:t>Three validated paths to Fabric:  </a:t>
            </a:r>
            <a:r>
              <a:rPr sz="1300" b="0" i="0">
                <a:solidFill>
                  <a:srgbClr val="202A37"/>
                </a:solidFill>
                <a:latin typeface="Calibri"/>
              </a:rPr>
              <a:t>Power BI DirectLake embed  ·  custom React via SQL Analytics Endpoint  ·  AI Copilot via LLM tool use</a:t>
            </a:r>
          </a:p>
        </p:txBody>
      </p:sp>
      <p:sp>
        <p:nvSpPr>
          <p:cNvPr id="20" name="TextBox 19"/>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21" name="TextBox 20"/>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457200"/>
          </a:xfrm>
          <a:prstGeom prst="rect">
            <a:avLst/>
          </a:prstGeom>
          <a:noFill/>
        </p:spPr>
        <p:txBody>
          <a:bodyPr wrap="square" anchor="t" lIns="0" rIns="0" tIns="0" bIns="0">
            <a:spAutoFit/>
          </a:bodyPr>
          <a:lstStyle/>
          <a:p>
            <a:pPr algn="l">
              <a:lnSpc>
                <a:spcPct val="104000"/>
              </a:lnSpc>
              <a:spcBef>
                <a:spcPts val="0"/>
              </a:spcBef>
              <a:spcAft>
                <a:spcPts val="400"/>
              </a:spcAft>
            </a:pPr>
            <a:r>
              <a:rPr sz="1500" b="1" i="0">
                <a:solidFill>
                  <a:srgbClr val="7EE8BE"/>
                </a:solidFill>
                <a:latin typeface="Trebuchet MS"/>
              </a:rPr>
              <a:t>PART 1</a:t>
            </a:r>
          </a:p>
        </p:txBody>
      </p:sp>
      <p:sp>
        <p:nvSpPr>
          <p:cNvPr id="5" name="TextBox 4"/>
          <p:cNvSpPr txBox="1"/>
          <p:nvPr/>
        </p:nvSpPr>
        <p:spPr>
          <a:xfrm>
            <a:off x="914400" y="2926080"/>
            <a:ext cx="10332720" cy="128016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FFFFFF"/>
                </a:solidFill>
                <a:latin typeface="Trebuchet MS"/>
              </a:rPr>
              <a:t>The Power BI Report</a:t>
            </a:r>
          </a:p>
        </p:txBody>
      </p:sp>
      <p:sp>
        <p:nvSpPr>
          <p:cNvPr id="6" name="TextBox 5"/>
          <p:cNvSpPr txBox="1"/>
          <p:nvPr/>
        </p:nvSpPr>
        <p:spPr>
          <a:xfrm>
            <a:off x="932688" y="4297680"/>
            <a:ext cx="9601200" cy="731520"/>
          </a:xfrm>
          <a:prstGeom prst="rect">
            <a:avLst/>
          </a:prstGeom>
          <a:noFill/>
        </p:spPr>
        <p:txBody>
          <a:bodyPr wrap="square" anchor="t" lIns="0" rIns="0" tIns="0" bIns="0">
            <a:spAutoFit/>
          </a:bodyPr>
          <a:lstStyle/>
          <a:p>
            <a:pPr algn="l">
              <a:lnSpc>
                <a:spcPct val="104000"/>
              </a:lnSpc>
              <a:spcBef>
                <a:spcPts val="0"/>
              </a:spcBef>
              <a:spcAft>
                <a:spcPts val="400"/>
              </a:spcAft>
            </a:pPr>
            <a:r>
              <a:rPr sz="1600" b="0" i="0">
                <a:solidFill>
                  <a:srgbClr val="7EE8BE"/>
                </a:solidFill>
                <a:latin typeface="Calibri"/>
              </a:rPr>
              <a:t>Nine analytical pages reading the Gold layer through DirectLake mode</a:t>
            </a:r>
          </a:p>
        </p:txBody>
      </p:sp>
      <p:sp>
        <p:nvSpPr>
          <p:cNvPr id="7" name="TextBox 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7EE8BE"/>
                </a:solidFill>
                <a:latin typeface="Trebuchet MS"/>
              </a:rPr>
              <a:t>EnergyLens</a:t>
            </a:r>
            <a:r>
              <a:rPr sz="900" b="0" i="0">
                <a:solidFill>
                  <a:srgbClr val="7EE8BE"/>
                </a:solidFill>
                <a:latin typeface="Calibri"/>
              </a:rPr>
              <a:t>   Platform Showcase</a:t>
            </a:r>
          </a:p>
        </p:txBody>
      </p:sp>
      <p:sp>
        <p:nvSpPr>
          <p:cNvPr id="8" name="TextBox 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7EE8B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POWER BI REPORT</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Page 1 · Portfolio Overview</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How is my portfolio doing this month?  (Energy Manager / C-suite)</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Page 1: the KPI cards (total kWh, cost €, CO₂), the per-building EUI heat map, and the worst-3 list.</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Portfolio totals and a per-building energy-intensity comparison against type benchmarks, with the worst performers surfaced.</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EUI = annual kWh ÷ conditioned m². Climate-adjusted by heating + cooling degree-days (EN ISO 15927-6) for fair comparison.</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EUI — kWh/m²/year</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POWER BI REPORT</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Page 2 · Building Deep-Dive</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What is this building doing right now?  (Facility Manager)</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Page 2: the 24-hour hourly demand profile, today's peak vs baseline, and cost-to-date.</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A single building's hourly demand curve, peak demand vs baseline, month-to-date cost and climate-adjusted EUI.</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Hourly kW from gold_kpi_hourly. Peak = MAX(demand); base load = MIN at 02:00–04:00 (a high base load = equipment never sleeps).</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Peak demand &amp; base load</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POWER BI REPORT</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Page 3 · Anomaly Detection</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Where is energy being wasted or a fault developing?</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Page 3: anomaly counts by severity, the type breakdown, and the table with estimated € loss.</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Detected anomalies by severity and type, each with a probable cause, recommended action and an estimated euro loss.</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One authoritative engine, 7 rule families (consumption spike, base load, COP drop, solar, battery, holiday, insulation), trilingual.</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AFDD — fault detection</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POWER BI REPORT</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Page 4 · Forecasting</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What will next month or quarter cost?</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Page 4: the 7/30/90-day forecast line with its confidence band, plus forecast cost and CO₂.</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A per-building consumption forecast with a confidence band, translated into forecast cost and CO₂.</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Meta's Prophet model, per building, with degree-days and occupancy as regressors; building-type-aware thresholds.</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Prophet time-series forecast</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POWER BI REPORT</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Page 5 · Decision Support</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What should I do, in what order, and what does it save?</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Page 5: ranked recommendations with €/kWh/CO₂ savings, effort, payback and matched incentives.</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Actions ranked by a priority score, each with annual savings, effort, payback years and a matching grant (KfW/BAFA/YEKA/EEG).</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Multi-country regulatory engine (DE/AT/NL/TR/EU) + incentive matching. priority = (saving × urgency) ÷ effort.</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Incentive matching</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POWER BI REPORT</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Page 6 · Sustainability (ESG / GHG)</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What is my carbon footprint, am I report-ready?  (the flagship reporting page)</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Page 6: the Scope 1/2/3 donut, the year-over-year bar, the area-weighted EPC map and the ESG score.</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GHG emissions split into Scope 1/2/3, an area-weighted EPC compliance map, and a 0–100 ESG score. Maps to ESRS E1-5 / E1-6.</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Scope 2 = grid kWh × sourced, year-indexed factor. EPC is area-weighted: Σ(area×score) ÷ Σ(area) — not a plain average.</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Scope 1/2/3 · ESRS E1</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POWER BI REPORT</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Page 7 · HVAC &amp; Hourly Profile</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Is my heating / cooling system efficient?</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Page 7: heat-pump COP (actual vs rated), the supply/return temperature delta, runtime and HVAC share.</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Heat-pump performance vs its rating, supply/return delta-T as an efficiency proxy, and HVAC's share of consumption.</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COP = heat produced ÷ electricity consumed, compared within equal outdoor-temperature bands so a cold-weather dip isn't a 'fault'.</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COP / SCOP</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POWER BI REPORT</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Page 8 · Real-Time IoT Monitoring</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What's happening now, which fault is burning money?  (FLAGSHIP)</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Page 8: the 4 KPI cards, the 24h power trend (building vs HVAC), the sensor matrix and the FDD diagnostics.</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Live power vs baseline, zone-comfort %, CO₂ level and automated fault diagnostics with an estimated daily euro cost.</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Event Hub → EventStream → KQL Eventhouse + Lakehouse. ASHRAE Guideline 36 AFDD: 12 rules, frozen fault codes, ~31 sensor types.</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ASHRAE Guideline 36</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POWER BI REPORT</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Page 9 · Battery Dispatch &amp; ROI</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Should I invest in a battery — which, and when does it pay back?  (CFO / investor)</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Page 9: the chemistry × country matrix, the 7 strategies compared, and payback / NPV / IRR.</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A financial comparison of battery chemistries and dispatch strategies, with payback, NPV, IRR and an EU-compliance flag.</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NPV (5% discount, 10-yr, inflation + salvage), Newton-Raphson IRR, payback. EU Battery Regulation 2023/1542 compliance check.</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NPV · IRR · payback</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457200"/>
          </a:xfrm>
          <a:prstGeom prst="rect">
            <a:avLst/>
          </a:prstGeom>
          <a:noFill/>
        </p:spPr>
        <p:txBody>
          <a:bodyPr wrap="square" anchor="t" lIns="0" rIns="0" tIns="0" bIns="0">
            <a:spAutoFit/>
          </a:bodyPr>
          <a:lstStyle/>
          <a:p>
            <a:pPr algn="l">
              <a:lnSpc>
                <a:spcPct val="104000"/>
              </a:lnSpc>
              <a:spcBef>
                <a:spcPts val="0"/>
              </a:spcBef>
              <a:spcAft>
                <a:spcPts val="400"/>
              </a:spcAft>
            </a:pPr>
            <a:r>
              <a:rPr sz="1500" b="1" i="0">
                <a:solidFill>
                  <a:srgbClr val="7EE8BE"/>
                </a:solidFill>
                <a:latin typeface="Trebuchet MS"/>
              </a:rPr>
              <a:t>PART 2</a:t>
            </a:r>
          </a:p>
        </p:txBody>
      </p:sp>
      <p:sp>
        <p:nvSpPr>
          <p:cNvPr id="5" name="TextBox 4"/>
          <p:cNvSpPr txBox="1"/>
          <p:nvPr/>
        </p:nvSpPr>
        <p:spPr>
          <a:xfrm>
            <a:off x="914400" y="2926080"/>
            <a:ext cx="10332720" cy="128016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FFFFFF"/>
                </a:solidFill>
                <a:latin typeface="Trebuchet MS"/>
              </a:rPr>
              <a:t>The Web Application</a:t>
            </a:r>
          </a:p>
        </p:txBody>
      </p:sp>
      <p:sp>
        <p:nvSpPr>
          <p:cNvPr id="6" name="TextBox 5"/>
          <p:cNvSpPr txBox="1"/>
          <p:nvPr/>
        </p:nvSpPr>
        <p:spPr>
          <a:xfrm>
            <a:off x="932688" y="4297680"/>
            <a:ext cx="9601200" cy="731520"/>
          </a:xfrm>
          <a:prstGeom prst="rect">
            <a:avLst/>
          </a:prstGeom>
          <a:noFill/>
        </p:spPr>
        <p:txBody>
          <a:bodyPr wrap="square" anchor="t" lIns="0" rIns="0" tIns="0" bIns="0">
            <a:spAutoFit/>
          </a:bodyPr>
          <a:lstStyle/>
          <a:p>
            <a:pPr algn="l">
              <a:lnSpc>
                <a:spcPct val="104000"/>
              </a:lnSpc>
              <a:spcBef>
                <a:spcPts val="0"/>
              </a:spcBef>
              <a:spcAft>
                <a:spcPts val="400"/>
              </a:spcAft>
            </a:pPr>
            <a:r>
              <a:rPr sz="1600" b="0" i="0">
                <a:solidFill>
                  <a:srgbClr val="7EE8BE"/>
                </a:solidFill>
                <a:latin typeface="Calibri"/>
              </a:rPr>
              <a:t>Navigation, access control, custom Fabric pages, PDF export and audit logging</a:t>
            </a:r>
          </a:p>
        </p:txBody>
      </p:sp>
      <p:sp>
        <p:nvSpPr>
          <p:cNvPr id="7" name="TextBox 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7EE8BE"/>
                </a:solidFill>
                <a:latin typeface="Trebuchet MS"/>
              </a:rPr>
              <a:t>EnergyLens</a:t>
            </a:r>
            <a:r>
              <a:rPr sz="900" b="0" i="0">
                <a:solidFill>
                  <a:srgbClr val="7EE8BE"/>
                </a:solidFill>
                <a:latin typeface="Calibri"/>
              </a:rPr>
              <a:t>   Platform Showcase</a:t>
            </a:r>
          </a:p>
        </p:txBody>
      </p:sp>
      <p:sp>
        <p:nvSpPr>
          <p:cNvPr id="8" name="TextBox 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7EE8B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WEB APPLICATION</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/portfolio</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The home dashboard</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/portfolio: the portfolio + on-site-solar KPI rows, the buildings table and the Export-PDF button.</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Portfolio-wide KPIs and a per-building table, with glossary tooltips, a 'data-not-connected' banner and PDF export.</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Custom React reading the Fabric Lakehouse directly via the SQL Analytics Endpoint (ODBC) — one of three data paths.</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SQL Analytics Endpoint</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WEB APPLICATION</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/buildings</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List · detail · compare</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a building detail page: the embedded Power BI report, plus the list and compare views.</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Building list (persistent selection, sticky compare bar) → detail with the embedded report → side-by-side compare.</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Embedded via service principal (app-owns-data) so end users need no Power BI licence; module-locked pages show a 'locked' preview.</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App-owns-data embed</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WEB APPLICATION</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/solar</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Dedicated solar view</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/solar: the solar KPI cards and the generation / self-consumption visuals.</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Self-consumption rate, self-sufficiency rate, yield and performance ratio for buildings with PV.</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Self-consumption = used ÷ generated; self-sufficiency = solar ÷ total need; PR = actual ÷ theoretical yield.</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Self-consumption vs sufficiency</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WEB APPLICATION</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/compliance</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The EU-agenda hub</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/compliance: scroll the five panels and the Compliance-PDF export.</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Five EU-regulation features in one hub — MEPS Radar, CRREM Stranding, Flexibility Readiness, EU Taxonomy, ESRS-E1 — each with an anti-greenwashing caveat.</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Indicative banding (EPC + EUI) against EPBD 2030/2033, 1.5°C CRREM pathways, and ESRS E1-6 Scope 1/2/3 export.</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Positions us vs Schneider / Siemens</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WEB APPLICATION</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/actions  &amp;  /alerts</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Recommendation workflow + anomaly triage</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/actions (status workflow) and /alerts (severity triage queue).</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Recommendations and anomalies read from Fabric, with a Postgres status/acknowledge overlay and a nav badge.</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'Unhandled' = unresolved (Fabric) AND not-acknowledged (Postgres); every change is written to the audit log.</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Hybrid Fabric + Postgres</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WEB APPLICATION</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More modules</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Glossary · Settings · Admin · Billing · Demo · PDF</a:t>
            </a:r>
          </a:p>
        </p:txBody>
      </p:sp>
      <p:sp>
        <p:nvSpPr>
          <p:cNvPr id="7" name="Rounded Rectangle 6"/>
          <p:cNvSpPr/>
          <p:nvPr/>
        </p:nvSpPr>
        <p:spPr>
          <a:xfrm>
            <a:off x="502920" y="1874519"/>
            <a:ext cx="59893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3787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54406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50749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Optional: quick screenshots of /glossary, /settings, /admin and the public /demo.</a:t>
            </a:r>
          </a:p>
        </p:txBody>
      </p:sp>
      <p:sp>
        <p:nvSpPr>
          <p:cNvPr id="11" name="TextBox 10"/>
          <p:cNvSpPr txBox="1"/>
          <p:nvPr/>
        </p:nvSpPr>
        <p:spPr>
          <a:xfrm>
            <a:off x="6720840" y="1874519"/>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WHAT IT SHOWS</a:t>
            </a:r>
          </a:p>
        </p:txBody>
      </p:sp>
      <p:sp>
        <p:nvSpPr>
          <p:cNvPr id="12" name="TextBox 11"/>
          <p:cNvSpPr txBox="1"/>
          <p:nvPr/>
        </p:nvSpPr>
        <p:spPr>
          <a:xfrm>
            <a:off x="6720840" y="2176272"/>
            <a:ext cx="4983480" cy="137160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A glossary (tooltips app-wide), org &amp; member settings, a founder-only admin console, Stripe self-serve billing, and a public demo URL.</a:t>
            </a:r>
          </a:p>
        </p:txBody>
      </p:sp>
      <p:sp>
        <p:nvSpPr>
          <p:cNvPr id="13" name="TextBox 12"/>
          <p:cNvSpPr txBox="1"/>
          <p:nvPr/>
        </p:nvSpPr>
        <p:spPr>
          <a:xfrm>
            <a:off x="6720840" y="3703320"/>
            <a:ext cx="498348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HOW IT'S CALCULATED</a:t>
            </a:r>
          </a:p>
        </p:txBody>
      </p:sp>
      <p:sp>
        <p:nvSpPr>
          <p:cNvPr id="14" name="TextBox 13"/>
          <p:cNvSpPr txBox="1"/>
          <p:nvPr/>
        </p:nvSpPr>
        <p:spPr>
          <a:xfrm>
            <a:off x="6720840" y="4005072"/>
            <a:ext cx="4983480" cy="1554480"/>
          </a:xfrm>
          <a:prstGeom prst="rect">
            <a:avLst/>
          </a:prstGeom>
          <a:noFill/>
        </p:spPr>
        <p:txBody>
          <a:bodyPr wrap="square" anchor="t" lIns="0" rIns="0" tIns="0" bIns="0">
            <a:spAutoFit/>
          </a:bodyPr>
          <a:lstStyle/>
          <a:p>
            <a:pPr algn="l">
              <a:lnSpc>
                <a:spcPct val="104000"/>
              </a:lnSpc>
              <a:spcBef>
                <a:spcPts val="0"/>
              </a:spcBef>
              <a:spcAft>
                <a:spcPts val="400"/>
              </a:spcAft>
            </a:pPr>
            <a:r>
              <a:rPr sz="1350" b="0" i="0">
                <a:solidFill>
                  <a:srgbClr val="202A37"/>
                </a:solidFill>
                <a:latin typeface="Calibri"/>
              </a:rPr>
              <a:t>Stripe billing · audit log · 4 PDF report routes · graceful degradation · mobile + accessibility.</a:t>
            </a:r>
          </a:p>
        </p:txBody>
      </p:sp>
      <p:sp>
        <p:nvSpPr>
          <p:cNvPr id="15" name="Rounded Rectangle 14"/>
          <p:cNvSpPr/>
          <p:nvPr/>
        </p:nvSpPr>
        <p:spPr>
          <a:xfrm>
            <a:off x="6720840" y="5650992"/>
            <a:ext cx="4983480" cy="566928"/>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5650992"/>
            <a:ext cx="4526280" cy="566928"/>
          </a:xfrm>
          <a:prstGeom prst="rect">
            <a:avLst/>
          </a:prstGeom>
          <a:noFill/>
        </p:spPr>
        <p:txBody>
          <a:bodyPr wrap="square" anchor="ctr" lIns="0" rIns="0" tIns="0" bIns="0">
            <a:spAutoFit/>
          </a:bodyPr>
          <a:lstStyle/>
          <a:p>
            <a:pPr algn="l">
              <a:lnSpc>
                <a:spcPct val="104000"/>
              </a:lnSpc>
              <a:spcBef>
                <a:spcPts val="0"/>
              </a:spcBef>
              <a:spcAft>
                <a:spcPts val="400"/>
              </a:spcAft>
            </a:pPr>
            <a:r>
              <a:rPr sz="1000" b="1" i="0">
                <a:solidFill>
                  <a:srgbClr val="7EE8BE"/>
                </a:solidFill>
                <a:latin typeface="Trebuchet MS"/>
              </a:rPr>
              <a:t>KEY TERM   </a:t>
            </a:r>
            <a:r>
              <a:rPr sz="1200" b="1" i="0">
                <a:solidFill>
                  <a:srgbClr val="FFFFFF"/>
                </a:solidFill>
                <a:latin typeface="Calibri"/>
              </a:rPr>
              <a:t>Production-grade polish</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457200"/>
          </a:xfrm>
          <a:prstGeom prst="rect">
            <a:avLst/>
          </a:prstGeom>
          <a:noFill/>
        </p:spPr>
        <p:txBody>
          <a:bodyPr wrap="square" anchor="t" lIns="0" rIns="0" tIns="0" bIns="0">
            <a:spAutoFit/>
          </a:bodyPr>
          <a:lstStyle/>
          <a:p>
            <a:pPr algn="l">
              <a:lnSpc>
                <a:spcPct val="104000"/>
              </a:lnSpc>
              <a:spcBef>
                <a:spcPts val="0"/>
              </a:spcBef>
              <a:spcAft>
                <a:spcPts val="400"/>
              </a:spcAft>
            </a:pPr>
            <a:r>
              <a:rPr sz="1500" b="1" i="0">
                <a:solidFill>
                  <a:srgbClr val="7EE8BE"/>
                </a:solidFill>
                <a:latin typeface="Trebuchet MS"/>
              </a:rPr>
              <a:t>PART 3</a:t>
            </a:r>
          </a:p>
        </p:txBody>
      </p:sp>
      <p:sp>
        <p:nvSpPr>
          <p:cNvPr id="5" name="TextBox 4"/>
          <p:cNvSpPr txBox="1"/>
          <p:nvPr/>
        </p:nvSpPr>
        <p:spPr>
          <a:xfrm>
            <a:off x="914400" y="2926080"/>
            <a:ext cx="10332720" cy="128016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FFFFFF"/>
                </a:solidFill>
                <a:latin typeface="Trebuchet MS"/>
              </a:rPr>
              <a:t>The AI Copilot</a:t>
            </a:r>
          </a:p>
        </p:txBody>
      </p:sp>
      <p:sp>
        <p:nvSpPr>
          <p:cNvPr id="6" name="TextBox 5"/>
          <p:cNvSpPr txBox="1"/>
          <p:nvPr/>
        </p:nvSpPr>
        <p:spPr>
          <a:xfrm>
            <a:off x="932688" y="4297680"/>
            <a:ext cx="9601200" cy="731520"/>
          </a:xfrm>
          <a:prstGeom prst="rect">
            <a:avLst/>
          </a:prstGeom>
          <a:noFill/>
        </p:spPr>
        <p:txBody>
          <a:bodyPr wrap="square" anchor="t" lIns="0" rIns="0" tIns="0" bIns="0">
            <a:spAutoFit/>
          </a:bodyPr>
          <a:lstStyle/>
          <a:p>
            <a:pPr algn="l">
              <a:lnSpc>
                <a:spcPct val="104000"/>
              </a:lnSpc>
              <a:spcBef>
                <a:spcPts val="0"/>
              </a:spcBef>
              <a:spcAft>
                <a:spcPts val="400"/>
              </a:spcAft>
            </a:pPr>
            <a:r>
              <a:rPr sz="1600" b="0" i="0">
                <a:solidFill>
                  <a:srgbClr val="7EE8BE"/>
                </a:solidFill>
                <a:latin typeface="Calibri"/>
              </a:rPr>
              <a:t>Conversational analytics over the Lakehouse — using tool use, not text summaries</a:t>
            </a:r>
          </a:p>
        </p:txBody>
      </p:sp>
      <p:sp>
        <p:nvSpPr>
          <p:cNvPr id="7" name="TextBox 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7EE8BE"/>
                </a:solidFill>
                <a:latin typeface="Trebuchet MS"/>
              </a:rPr>
              <a:t>EnergyLens</a:t>
            </a:r>
            <a:r>
              <a:rPr sz="900" b="0" i="0">
                <a:solidFill>
                  <a:srgbClr val="7EE8BE"/>
                </a:solidFill>
                <a:latin typeface="Calibri"/>
              </a:rPr>
              <a:t>   Platform Showcase</a:t>
            </a:r>
          </a:p>
        </p:txBody>
      </p:sp>
      <p:sp>
        <p:nvSpPr>
          <p:cNvPr id="8" name="TextBox 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7EE8BE"/>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AI COPILOT</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It runs real queries — and it can act, not just describe</a:t>
            </a:r>
          </a:p>
        </p:txBody>
      </p:sp>
      <p:sp>
        <p:nvSpPr>
          <p:cNvPr id="6" name="TextBox 5"/>
          <p:cNvSpPr txBox="1"/>
          <p:nvPr/>
        </p:nvSpPr>
        <p:spPr>
          <a:xfrm>
            <a:off x="502920" y="1499616"/>
            <a:ext cx="11155680" cy="320040"/>
          </a:xfrm>
          <a:prstGeom prst="rect">
            <a:avLst/>
          </a:prstGeom>
          <a:noFill/>
        </p:spPr>
        <p:txBody>
          <a:bodyPr wrap="square" anchor="t" lIns="0" rIns="0" tIns="0" bIns="0">
            <a:spAutoFit/>
          </a:bodyPr>
          <a:lstStyle/>
          <a:p>
            <a:pPr algn="l">
              <a:lnSpc>
                <a:spcPct val="104000"/>
              </a:lnSpc>
              <a:spcBef>
                <a:spcPts val="0"/>
              </a:spcBef>
              <a:spcAft>
                <a:spcPts val="400"/>
              </a:spcAft>
            </a:pPr>
            <a:r>
              <a:rPr sz="1400" b="0" i="1">
                <a:solidFill>
                  <a:srgbClr val="6B7280"/>
                </a:solidFill>
                <a:latin typeface="Calibri"/>
              </a:rPr>
              <a:t>Ask in plain language; the model picks a tool, the dispatcher queries Fabric/Postgres, the answer streams back.</a:t>
            </a:r>
          </a:p>
        </p:txBody>
      </p:sp>
      <p:sp>
        <p:nvSpPr>
          <p:cNvPr id="7" name="Rounded Rectangle 6"/>
          <p:cNvSpPr/>
          <p:nvPr/>
        </p:nvSpPr>
        <p:spPr>
          <a:xfrm>
            <a:off x="502920" y="1874519"/>
            <a:ext cx="5532120" cy="4343400"/>
          </a:xfrm>
          <a:prstGeom prst="roundRect">
            <a:avLst/>
          </a:prstGeom>
          <a:solidFill>
            <a:srgbClr val="ECF5F1"/>
          </a:solidFill>
          <a:ln w="19050">
            <a:solidFill>
              <a:srgbClr val="0B6E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150108" y="3479291"/>
            <a:ext cx="237744" cy="237744"/>
          </a:xfrm>
          <a:prstGeom prst="ellipse">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790187"/>
            <a:ext cx="4983480" cy="365760"/>
          </a:xfrm>
          <a:prstGeom prst="rect">
            <a:avLst/>
          </a:prstGeom>
          <a:noFill/>
        </p:spPr>
        <p:txBody>
          <a:bodyPr wrap="square" anchor="t" lIns="0" rIns="0" tIns="0" bIns="0">
            <a:spAutoFit/>
          </a:bodyPr>
          <a:lstStyle/>
          <a:p>
            <a:pPr algn="ctr">
              <a:lnSpc>
                <a:spcPct val="104000"/>
              </a:lnSpc>
              <a:spcBef>
                <a:spcPts val="0"/>
              </a:spcBef>
              <a:spcAft>
                <a:spcPts val="400"/>
              </a:spcAft>
            </a:pPr>
            <a:r>
              <a:rPr sz="1400" b="1" i="0">
                <a:solidFill>
                  <a:srgbClr val="0B6E4F"/>
                </a:solidFill>
                <a:latin typeface="Trebuchet MS"/>
              </a:rPr>
              <a:t>[ SCREEN RECORDING / SCREENSHOT ]</a:t>
            </a:r>
          </a:p>
        </p:txBody>
      </p:sp>
      <p:sp>
        <p:nvSpPr>
          <p:cNvPr id="10" name="TextBox 9"/>
          <p:cNvSpPr txBox="1"/>
          <p:nvPr/>
        </p:nvSpPr>
        <p:spPr>
          <a:xfrm>
            <a:off x="960120" y="4155947"/>
            <a:ext cx="4617720" cy="914400"/>
          </a:xfrm>
          <a:prstGeom prst="rect">
            <a:avLst/>
          </a:prstGeom>
          <a:noFill/>
        </p:spPr>
        <p:txBody>
          <a:bodyPr wrap="square" anchor="t" lIns="0" rIns="0" tIns="0" bIns="0">
            <a:spAutoFit/>
          </a:bodyPr>
          <a:lstStyle/>
          <a:p>
            <a:pPr algn="ctr">
              <a:lnSpc>
                <a:spcPct val="104000"/>
              </a:lnSpc>
              <a:spcBef>
                <a:spcPts val="0"/>
              </a:spcBef>
              <a:spcAft>
                <a:spcPts val="400"/>
              </a:spcAft>
            </a:pPr>
            <a:r>
              <a:rPr sz="1150" b="0" i="1">
                <a:solidFill>
                  <a:srgbClr val="6B7280"/>
                </a:solidFill>
                <a:latin typeface="Calibri"/>
              </a:rPr>
              <a:t>Capture /copilot: type a question, show the tool call happening, and the streamed answer.</a:t>
            </a:r>
          </a:p>
        </p:txBody>
      </p:sp>
      <p:sp>
        <p:nvSpPr>
          <p:cNvPr id="11" name="TextBox 10"/>
          <p:cNvSpPr txBox="1"/>
          <p:nvPr/>
        </p:nvSpPr>
        <p:spPr>
          <a:xfrm>
            <a:off x="6355080" y="1874519"/>
            <a:ext cx="5349240" cy="274320"/>
          </a:xfrm>
          <a:prstGeom prst="rect">
            <a:avLst/>
          </a:prstGeom>
          <a:noFill/>
        </p:spPr>
        <p:txBody>
          <a:bodyPr wrap="square" anchor="t" lIns="0" rIns="0" tIns="0" bIns="0">
            <a:spAutoFit/>
          </a:bodyPr>
          <a:lstStyle/>
          <a:p>
            <a:pPr algn="l">
              <a:lnSpc>
                <a:spcPct val="104000"/>
              </a:lnSpc>
              <a:spcBef>
                <a:spcPts val="0"/>
              </a:spcBef>
              <a:spcAft>
                <a:spcPts val="400"/>
              </a:spcAft>
            </a:pPr>
            <a:r>
              <a:rPr sz="1100" b="1" i="0">
                <a:solidFill>
                  <a:srgbClr val="10B981"/>
                </a:solidFill>
                <a:latin typeface="Trebuchet MS"/>
              </a:rPr>
              <a:t>SIX PRODUCTION TOOLS</a:t>
            </a:r>
          </a:p>
        </p:txBody>
      </p:sp>
      <p:sp>
        <p:nvSpPr>
          <p:cNvPr id="12" name="Rounded Rectangle 11"/>
          <p:cNvSpPr/>
          <p:nvPr/>
        </p:nvSpPr>
        <p:spPr>
          <a:xfrm>
            <a:off x="6355080" y="2194560"/>
            <a:ext cx="5349240" cy="4572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194560"/>
            <a:ext cx="26517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200" b="1" i="0">
                <a:solidFill>
                  <a:srgbClr val="0B6E4F"/>
                </a:solidFill>
                <a:latin typeface="Consolas"/>
              </a:rPr>
              <a:t>query_kpi</a:t>
            </a:r>
          </a:p>
        </p:txBody>
      </p:sp>
      <p:sp>
        <p:nvSpPr>
          <p:cNvPr id="14" name="TextBox 13"/>
          <p:cNvSpPr txBox="1"/>
          <p:nvPr/>
        </p:nvSpPr>
        <p:spPr>
          <a:xfrm>
            <a:off x="9098280" y="2194560"/>
            <a:ext cx="24231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150" b="0" i="0">
                <a:solidFill>
                  <a:srgbClr val="202A37"/>
                </a:solidFill>
                <a:latin typeface="Calibri"/>
              </a:rPr>
              <a:t>KPIs for a building</a:t>
            </a:r>
          </a:p>
        </p:txBody>
      </p:sp>
      <p:sp>
        <p:nvSpPr>
          <p:cNvPr id="15" name="Rounded Rectangle 14"/>
          <p:cNvSpPr/>
          <p:nvPr/>
        </p:nvSpPr>
        <p:spPr>
          <a:xfrm>
            <a:off x="6355080" y="2724912"/>
            <a:ext cx="5349240" cy="4572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724912"/>
            <a:ext cx="26517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200" b="1" i="0">
                <a:solidFill>
                  <a:srgbClr val="0B6E4F"/>
                </a:solidFill>
                <a:latin typeface="Consolas"/>
              </a:rPr>
              <a:t>compare_buildings</a:t>
            </a:r>
          </a:p>
        </p:txBody>
      </p:sp>
      <p:sp>
        <p:nvSpPr>
          <p:cNvPr id="17" name="TextBox 16"/>
          <p:cNvSpPr txBox="1"/>
          <p:nvPr/>
        </p:nvSpPr>
        <p:spPr>
          <a:xfrm>
            <a:off x="9098280" y="2724912"/>
            <a:ext cx="24231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150" b="0" i="0">
                <a:solidFill>
                  <a:srgbClr val="202A37"/>
                </a:solidFill>
                <a:latin typeface="Calibri"/>
              </a:rPr>
              <a:t>rank / compare buildings</a:t>
            </a:r>
          </a:p>
        </p:txBody>
      </p:sp>
      <p:sp>
        <p:nvSpPr>
          <p:cNvPr id="18" name="Rounded Rectangle 17"/>
          <p:cNvSpPr/>
          <p:nvPr/>
        </p:nvSpPr>
        <p:spPr>
          <a:xfrm>
            <a:off x="6355080" y="3255264"/>
            <a:ext cx="5349240" cy="4572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3255264"/>
            <a:ext cx="26517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200" b="1" i="0">
                <a:solidFill>
                  <a:srgbClr val="0B6E4F"/>
                </a:solidFill>
                <a:latin typeface="Consolas"/>
              </a:rPr>
              <a:t>list_recommendations</a:t>
            </a:r>
          </a:p>
        </p:txBody>
      </p:sp>
      <p:sp>
        <p:nvSpPr>
          <p:cNvPr id="20" name="TextBox 19"/>
          <p:cNvSpPr txBox="1"/>
          <p:nvPr/>
        </p:nvSpPr>
        <p:spPr>
          <a:xfrm>
            <a:off x="9098280" y="3255264"/>
            <a:ext cx="24231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150" b="0" i="0">
                <a:solidFill>
                  <a:srgbClr val="202A37"/>
                </a:solidFill>
                <a:latin typeface="Calibri"/>
              </a:rPr>
              <a:t>recommendations by priority</a:t>
            </a:r>
          </a:p>
        </p:txBody>
      </p:sp>
      <p:sp>
        <p:nvSpPr>
          <p:cNvPr id="21" name="Rounded Rectangle 20"/>
          <p:cNvSpPr/>
          <p:nvPr/>
        </p:nvSpPr>
        <p:spPr>
          <a:xfrm>
            <a:off x="6355080" y="3785616"/>
            <a:ext cx="5349240" cy="4572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3785616"/>
            <a:ext cx="26517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200" b="1" i="0">
                <a:solidFill>
                  <a:srgbClr val="0B6E4F"/>
                </a:solidFill>
                <a:latin typeface="Consolas"/>
              </a:rPr>
              <a:t>get_anomalies</a:t>
            </a:r>
          </a:p>
        </p:txBody>
      </p:sp>
      <p:sp>
        <p:nvSpPr>
          <p:cNvPr id="23" name="TextBox 22"/>
          <p:cNvSpPr txBox="1"/>
          <p:nvPr/>
        </p:nvSpPr>
        <p:spPr>
          <a:xfrm>
            <a:off x="9098280" y="3785616"/>
            <a:ext cx="24231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150" b="0" i="0">
                <a:solidFill>
                  <a:srgbClr val="202A37"/>
                </a:solidFill>
                <a:latin typeface="Calibri"/>
              </a:rPr>
              <a:t>anomalies by severity/type</a:t>
            </a:r>
          </a:p>
        </p:txBody>
      </p:sp>
      <p:sp>
        <p:nvSpPr>
          <p:cNvPr id="24" name="Rounded Rectangle 23"/>
          <p:cNvSpPr/>
          <p:nvPr/>
        </p:nvSpPr>
        <p:spPr>
          <a:xfrm>
            <a:off x="6355080" y="4315968"/>
            <a:ext cx="5349240" cy="4572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4315968"/>
            <a:ext cx="26517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200" b="1" i="0">
                <a:solidFill>
                  <a:srgbClr val="0B6E4F"/>
                </a:solidFill>
                <a:latin typeface="Consolas"/>
              </a:rPr>
              <a:t>simulate_battery_scenario</a:t>
            </a:r>
          </a:p>
        </p:txBody>
      </p:sp>
      <p:sp>
        <p:nvSpPr>
          <p:cNvPr id="26" name="TextBox 25"/>
          <p:cNvSpPr txBox="1"/>
          <p:nvPr/>
        </p:nvSpPr>
        <p:spPr>
          <a:xfrm>
            <a:off x="9098280" y="4315968"/>
            <a:ext cx="24231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150" b="0" i="0">
                <a:solidFill>
                  <a:srgbClr val="202A37"/>
                </a:solidFill>
                <a:latin typeface="Calibri"/>
              </a:rPr>
              <a:t>payback / NPV / IRR</a:t>
            </a:r>
          </a:p>
        </p:txBody>
      </p:sp>
      <p:sp>
        <p:nvSpPr>
          <p:cNvPr id="27" name="Rounded Rectangle 26"/>
          <p:cNvSpPr/>
          <p:nvPr/>
        </p:nvSpPr>
        <p:spPr>
          <a:xfrm>
            <a:off x="6355080" y="4846320"/>
            <a:ext cx="5349240" cy="4572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37960" y="4846320"/>
            <a:ext cx="26517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200" b="1" i="0">
                <a:solidFill>
                  <a:srgbClr val="0B6E4F"/>
                </a:solidFill>
                <a:latin typeface="Consolas"/>
              </a:rPr>
              <a:t>update_action_status</a:t>
            </a:r>
          </a:p>
        </p:txBody>
      </p:sp>
      <p:sp>
        <p:nvSpPr>
          <p:cNvPr id="29" name="TextBox 28"/>
          <p:cNvSpPr txBox="1"/>
          <p:nvPr/>
        </p:nvSpPr>
        <p:spPr>
          <a:xfrm>
            <a:off x="9098280" y="4846320"/>
            <a:ext cx="2423160" cy="457200"/>
          </a:xfrm>
          <a:prstGeom prst="rect">
            <a:avLst/>
          </a:prstGeom>
          <a:noFill/>
        </p:spPr>
        <p:txBody>
          <a:bodyPr wrap="square" anchor="ctr" lIns="0" rIns="0" tIns="0" bIns="0">
            <a:spAutoFit/>
          </a:bodyPr>
          <a:lstStyle/>
          <a:p>
            <a:pPr algn="l">
              <a:lnSpc>
                <a:spcPct val="104000"/>
              </a:lnSpc>
              <a:spcBef>
                <a:spcPts val="0"/>
              </a:spcBef>
              <a:spcAft>
                <a:spcPts val="400"/>
              </a:spcAft>
            </a:pPr>
            <a:r>
              <a:rPr sz="1150" b="0" i="0">
                <a:solidFill>
                  <a:srgbClr val="202A37"/>
                </a:solidFill>
                <a:latin typeface="Calibri"/>
              </a:rPr>
              <a:t>change status (a write)</a:t>
            </a:r>
          </a:p>
        </p:txBody>
      </p:sp>
      <p:sp>
        <p:nvSpPr>
          <p:cNvPr id="30" name="TextBox 29"/>
          <p:cNvSpPr txBox="1"/>
          <p:nvPr/>
        </p:nvSpPr>
        <p:spPr>
          <a:xfrm>
            <a:off x="6355080" y="5440680"/>
            <a:ext cx="5349240" cy="822960"/>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0B6E4F"/>
                </a:solidFill>
                <a:latin typeface="Calibri"/>
              </a:rPr>
              <a:t>Provider abstraction: </a:t>
            </a:r>
            <a:r>
              <a:rPr sz="1200" b="0" i="0">
                <a:solidFill>
                  <a:srgbClr val="202A37"/>
                </a:solidFill>
                <a:latin typeface="Calibri"/>
              </a:rPr>
              <a:t>Anthropic / Azure OpenAI / Mock — production is one environment variable. RLS enforced on every tool call.</a:t>
            </a:r>
          </a:p>
        </p:txBody>
      </p:sp>
      <p:sp>
        <p:nvSpPr>
          <p:cNvPr id="31" name="TextBox 30"/>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32" name="TextBox 31"/>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457200"/>
          </a:xfrm>
          <a:prstGeom prst="rect">
            <a:avLst/>
          </a:prstGeom>
          <a:noFill/>
        </p:spPr>
        <p:txBody>
          <a:bodyPr wrap="square" anchor="t" lIns="0" rIns="0" tIns="0" bIns="0">
            <a:spAutoFit/>
          </a:bodyPr>
          <a:lstStyle/>
          <a:p>
            <a:pPr algn="l">
              <a:lnSpc>
                <a:spcPct val="104000"/>
              </a:lnSpc>
              <a:spcBef>
                <a:spcPts val="0"/>
              </a:spcBef>
              <a:spcAft>
                <a:spcPts val="400"/>
              </a:spcAft>
            </a:pPr>
            <a:r>
              <a:rPr sz="1500" b="1" i="0">
                <a:solidFill>
                  <a:srgbClr val="7EE8BE"/>
                </a:solidFill>
                <a:latin typeface="Trebuchet MS"/>
              </a:rPr>
              <a:t>PART 4</a:t>
            </a:r>
          </a:p>
        </p:txBody>
      </p:sp>
      <p:sp>
        <p:nvSpPr>
          <p:cNvPr id="5" name="TextBox 4"/>
          <p:cNvSpPr txBox="1"/>
          <p:nvPr/>
        </p:nvSpPr>
        <p:spPr>
          <a:xfrm>
            <a:off x="914400" y="2926080"/>
            <a:ext cx="10332720" cy="128016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FFFFFF"/>
                </a:solidFill>
                <a:latin typeface="Trebuchet MS"/>
              </a:rPr>
              <a:t>Market &amp; Strategy</a:t>
            </a:r>
          </a:p>
        </p:txBody>
      </p:sp>
      <p:sp>
        <p:nvSpPr>
          <p:cNvPr id="6" name="TextBox 5"/>
          <p:cNvSpPr txBox="1"/>
          <p:nvPr/>
        </p:nvSpPr>
        <p:spPr>
          <a:xfrm>
            <a:off x="932688" y="4297680"/>
            <a:ext cx="9601200" cy="731520"/>
          </a:xfrm>
          <a:prstGeom prst="rect">
            <a:avLst/>
          </a:prstGeom>
          <a:noFill/>
        </p:spPr>
        <p:txBody>
          <a:bodyPr wrap="square" anchor="t" lIns="0" rIns="0" tIns="0" bIns="0">
            <a:spAutoFit/>
          </a:bodyPr>
          <a:lstStyle/>
          <a:p>
            <a:pPr algn="l">
              <a:lnSpc>
                <a:spcPct val="104000"/>
              </a:lnSpc>
              <a:spcBef>
                <a:spcPts val="0"/>
              </a:spcBef>
              <a:spcAft>
                <a:spcPts val="400"/>
              </a:spcAft>
            </a:pPr>
            <a:r>
              <a:rPr sz="1600" b="0" i="0">
                <a:solidFill>
                  <a:srgbClr val="7EE8BE"/>
                </a:solidFill>
                <a:latin typeface="Calibri"/>
              </a:rPr>
              <a:t>Why it matters, how big it gets, and how we win</a:t>
            </a:r>
          </a:p>
        </p:txBody>
      </p:sp>
      <p:sp>
        <p:nvSpPr>
          <p:cNvPr id="7" name="TextBox 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7EE8BE"/>
                </a:solidFill>
                <a:latin typeface="Trebuchet MS"/>
              </a:rPr>
              <a:t>EnergyLens</a:t>
            </a:r>
            <a:r>
              <a:rPr sz="900" b="0" i="0">
                <a:solidFill>
                  <a:srgbClr val="7EE8BE"/>
                </a:solidFill>
                <a:latin typeface="Calibri"/>
              </a:rPr>
              <a:t>   Platform Showcase</a:t>
            </a:r>
          </a:p>
        </p:txBody>
      </p:sp>
      <p:sp>
        <p:nvSpPr>
          <p:cNvPr id="8" name="TextBox 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7EE8BE"/>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MARKET SIZE</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A large, growing market — not a niche in decline</a:t>
            </a:r>
          </a:p>
        </p:txBody>
      </p:sp>
      <p:sp>
        <p:nvSpPr>
          <p:cNvPr id="6" name="Rounded Rectangle 5"/>
          <p:cNvSpPr/>
          <p:nvPr/>
        </p:nvSpPr>
        <p:spPr>
          <a:xfrm>
            <a:off x="502920" y="1965960"/>
            <a:ext cx="2743200"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67128"/>
            <a:ext cx="2286000" cy="91440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0B6E4F"/>
                </a:solidFill>
                <a:latin typeface="Trebuchet MS"/>
              </a:rPr>
              <a:t>€18B</a:t>
            </a:r>
          </a:p>
        </p:txBody>
      </p:sp>
      <p:sp>
        <p:nvSpPr>
          <p:cNvPr id="8" name="TextBox 7"/>
          <p:cNvSpPr txBox="1"/>
          <p:nvPr/>
        </p:nvSpPr>
        <p:spPr>
          <a:xfrm>
            <a:off x="749808" y="3044952"/>
            <a:ext cx="2249424" cy="64008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202A37"/>
                </a:solidFill>
                <a:latin typeface="Calibri"/>
              </a:rPr>
              <a:t>TAM — EU commercial buildings</a:t>
            </a:r>
          </a:p>
        </p:txBody>
      </p:sp>
      <p:sp>
        <p:nvSpPr>
          <p:cNvPr id="9" name="TextBox 8"/>
          <p:cNvSpPr txBox="1"/>
          <p:nvPr/>
        </p:nvSpPr>
        <p:spPr>
          <a:xfrm>
            <a:off x="749808" y="3355848"/>
            <a:ext cx="2249424" cy="365760"/>
          </a:xfrm>
          <a:prstGeom prst="rect">
            <a:avLst/>
          </a:prstGeom>
          <a:noFill/>
        </p:spPr>
        <p:txBody>
          <a:bodyPr wrap="square" anchor="t" lIns="0" rIns="0" tIns="0" bIns="0">
            <a:spAutoFit/>
          </a:bodyPr>
          <a:lstStyle/>
          <a:p>
            <a:pPr algn="l">
              <a:lnSpc>
                <a:spcPct val="104000"/>
              </a:lnSpc>
              <a:spcBef>
                <a:spcPts val="0"/>
              </a:spcBef>
              <a:spcAft>
                <a:spcPts val="400"/>
              </a:spcAft>
            </a:pPr>
            <a:r>
              <a:rPr sz="1100" b="0" i="0">
                <a:solidFill>
                  <a:srgbClr val="6B7280"/>
                </a:solidFill>
                <a:latin typeface="Calibri"/>
              </a:rPr>
              <a:t>~5M buildings × €100–700/mo</a:t>
            </a:r>
          </a:p>
        </p:txBody>
      </p:sp>
      <p:sp>
        <p:nvSpPr>
          <p:cNvPr id="10" name="Rounded Rectangle 9"/>
          <p:cNvSpPr/>
          <p:nvPr/>
        </p:nvSpPr>
        <p:spPr>
          <a:xfrm>
            <a:off x="3383280" y="1965960"/>
            <a:ext cx="2743200"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67128"/>
            <a:ext cx="2286000" cy="91440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0B6E4F"/>
                </a:solidFill>
                <a:latin typeface="Trebuchet MS"/>
              </a:rPr>
              <a:t>€4.3B</a:t>
            </a:r>
          </a:p>
        </p:txBody>
      </p:sp>
      <p:sp>
        <p:nvSpPr>
          <p:cNvPr id="12" name="TextBox 11"/>
          <p:cNvSpPr txBox="1"/>
          <p:nvPr/>
        </p:nvSpPr>
        <p:spPr>
          <a:xfrm>
            <a:off x="3630168" y="3044952"/>
            <a:ext cx="2249424" cy="64008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202A37"/>
                </a:solidFill>
                <a:latin typeface="Calibri"/>
              </a:rPr>
              <a:t>SAM — DACH focus</a:t>
            </a:r>
          </a:p>
        </p:txBody>
      </p:sp>
      <p:sp>
        <p:nvSpPr>
          <p:cNvPr id="13" name="TextBox 12"/>
          <p:cNvSpPr txBox="1"/>
          <p:nvPr/>
        </p:nvSpPr>
        <p:spPr>
          <a:xfrm>
            <a:off x="3630168" y="3355848"/>
            <a:ext cx="2249424" cy="365760"/>
          </a:xfrm>
          <a:prstGeom prst="rect">
            <a:avLst/>
          </a:prstGeom>
          <a:noFill/>
        </p:spPr>
        <p:txBody>
          <a:bodyPr wrap="square" anchor="t" lIns="0" rIns="0" tIns="0" bIns="0">
            <a:spAutoFit/>
          </a:bodyPr>
          <a:lstStyle/>
          <a:p>
            <a:pPr algn="l">
              <a:lnSpc>
                <a:spcPct val="104000"/>
              </a:lnSpc>
              <a:spcBef>
                <a:spcPts val="0"/>
              </a:spcBef>
              <a:spcAft>
                <a:spcPts val="400"/>
              </a:spcAft>
            </a:pPr>
            <a:r>
              <a:rPr sz="1100" b="0" i="0">
                <a:solidFill>
                  <a:srgbClr val="6B7280"/>
                </a:solidFill>
                <a:latin typeface="Calibri"/>
              </a:rPr>
              <a:t>highest-value compliance market</a:t>
            </a:r>
          </a:p>
        </p:txBody>
      </p:sp>
      <p:sp>
        <p:nvSpPr>
          <p:cNvPr id="14" name="Rounded Rectangle 13"/>
          <p:cNvSpPr/>
          <p:nvPr/>
        </p:nvSpPr>
        <p:spPr>
          <a:xfrm>
            <a:off x="6263640" y="1965960"/>
            <a:ext cx="2743200"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167128"/>
            <a:ext cx="2286000" cy="91440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0B6E4F"/>
                </a:solidFill>
                <a:latin typeface="Trebuchet MS"/>
              </a:rPr>
              <a:t>$8.4→24B</a:t>
            </a:r>
          </a:p>
        </p:txBody>
      </p:sp>
      <p:sp>
        <p:nvSpPr>
          <p:cNvPr id="16" name="TextBox 15"/>
          <p:cNvSpPr txBox="1"/>
          <p:nvPr/>
        </p:nvSpPr>
        <p:spPr>
          <a:xfrm>
            <a:off x="6510528" y="3044952"/>
            <a:ext cx="2249424" cy="64008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202A37"/>
                </a:solidFill>
                <a:latin typeface="Calibri"/>
              </a:rPr>
              <a:t>BEMS software market</a:t>
            </a:r>
          </a:p>
        </p:txBody>
      </p:sp>
      <p:sp>
        <p:nvSpPr>
          <p:cNvPr id="17" name="TextBox 16"/>
          <p:cNvSpPr txBox="1"/>
          <p:nvPr/>
        </p:nvSpPr>
        <p:spPr>
          <a:xfrm>
            <a:off x="6510528" y="3355848"/>
            <a:ext cx="2249424" cy="365760"/>
          </a:xfrm>
          <a:prstGeom prst="rect">
            <a:avLst/>
          </a:prstGeom>
          <a:noFill/>
        </p:spPr>
        <p:txBody>
          <a:bodyPr wrap="square" anchor="t" lIns="0" rIns="0" tIns="0" bIns="0">
            <a:spAutoFit/>
          </a:bodyPr>
          <a:lstStyle/>
          <a:p>
            <a:pPr algn="l">
              <a:lnSpc>
                <a:spcPct val="104000"/>
              </a:lnSpc>
              <a:spcBef>
                <a:spcPts val="0"/>
              </a:spcBef>
              <a:spcAft>
                <a:spcPts val="400"/>
              </a:spcAft>
            </a:pPr>
            <a:r>
              <a:rPr sz="1100" b="0" i="0">
                <a:solidFill>
                  <a:srgbClr val="6B7280"/>
                </a:solidFill>
                <a:latin typeface="Calibri"/>
              </a:rPr>
              <a:t>2026 → 2035</a:t>
            </a:r>
          </a:p>
        </p:txBody>
      </p:sp>
      <p:sp>
        <p:nvSpPr>
          <p:cNvPr id="18" name="Rounded Rectangle 17"/>
          <p:cNvSpPr/>
          <p:nvPr/>
        </p:nvSpPr>
        <p:spPr>
          <a:xfrm>
            <a:off x="9144000" y="1965960"/>
            <a:ext cx="2542032"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2167128"/>
            <a:ext cx="2084832" cy="91440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0B6E4F"/>
                </a:solidFill>
                <a:latin typeface="Trebuchet MS"/>
              </a:rPr>
              <a:t>8.7%</a:t>
            </a:r>
          </a:p>
        </p:txBody>
      </p:sp>
      <p:sp>
        <p:nvSpPr>
          <p:cNvPr id="20" name="TextBox 19"/>
          <p:cNvSpPr txBox="1"/>
          <p:nvPr/>
        </p:nvSpPr>
        <p:spPr>
          <a:xfrm>
            <a:off x="9390888" y="3044952"/>
            <a:ext cx="2048256" cy="64008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202A37"/>
                </a:solidFill>
                <a:latin typeface="Calibri"/>
              </a:rPr>
              <a:t>BEMS market CAGR</a:t>
            </a:r>
          </a:p>
        </p:txBody>
      </p:sp>
      <p:sp>
        <p:nvSpPr>
          <p:cNvPr id="21" name="TextBox 20"/>
          <p:cNvSpPr txBox="1"/>
          <p:nvPr/>
        </p:nvSpPr>
        <p:spPr>
          <a:xfrm>
            <a:off x="9390888" y="3355848"/>
            <a:ext cx="2048256" cy="365760"/>
          </a:xfrm>
          <a:prstGeom prst="rect">
            <a:avLst/>
          </a:prstGeom>
          <a:noFill/>
        </p:spPr>
        <p:txBody>
          <a:bodyPr wrap="square" anchor="t" lIns="0" rIns="0" tIns="0" bIns="0">
            <a:spAutoFit/>
          </a:bodyPr>
          <a:lstStyle/>
          <a:p>
            <a:pPr algn="l">
              <a:lnSpc>
                <a:spcPct val="104000"/>
              </a:lnSpc>
              <a:spcBef>
                <a:spcPts val="0"/>
              </a:spcBef>
              <a:spcAft>
                <a:spcPts val="400"/>
              </a:spcAft>
            </a:pPr>
            <a:r>
              <a:rPr sz="1100" b="0" i="0">
                <a:solidFill>
                  <a:srgbClr val="6B7280"/>
                </a:solidFill>
                <a:latin typeface="Calibri"/>
              </a:rPr>
              <a:t>to 2035</a:t>
            </a:r>
          </a:p>
        </p:txBody>
      </p:sp>
      <p:sp>
        <p:nvSpPr>
          <p:cNvPr id="22" name="TextBox 21"/>
          <p:cNvSpPr txBox="1"/>
          <p:nvPr/>
        </p:nvSpPr>
        <p:spPr>
          <a:xfrm>
            <a:off x="502920" y="4160520"/>
            <a:ext cx="11155680" cy="1828800"/>
          </a:xfrm>
          <a:prstGeom prst="rect">
            <a:avLst/>
          </a:prstGeom>
          <a:noFill/>
        </p:spPr>
        <p:txBody>
          <a:bodyPr wrap="square" anchor="t" lIns="0" rIns="0" tIns="0" bIns="0">
            <a:spAutoFit/>
          </a:bodyPr>
          <a:lstStyle/>
          <a:p>
            <a:pPr algn="l">
              <a:lnSpc>
                <a:spcPct val="104000"/>
              </a:lnSpc>
              <a:spcBef>
                <a:spcPts val="0"/>
              </a:spcBef>
              <a:spcAft>
                <a:spcPts val="800"/>
              </a:spcAft>
            </a:pPr>
            <a:r>
              <a:rPr sz="1700" b="1" i="0">
                <a:solidFill>
                  <a:srgbClr val="0B6E4F"/>
                </a:solidFill>
                <a:latin typeface="Calibri"/>
              </a:rPr>
              <a:t>Five tailwinds, all at once</a:t>
            </a:r>
          </a:p>
          <a:p>
            <a:pPr algn="l">
              <a:lnSpc>
                <a:spcPct val="104000"/>
              </a:lnSpc>
              <a:spcBef>
                <a:spcPts val="0"/>
              </a:spcBef>
              <a:spcAft>
                <a:spcPts val="800"/>
              </a:spcAft>
            </a:pPr>
            <a:r>
              <a:rPr sz="1450" b="0" i="0">
                <a:solidFill>
                  <a:srgbClr val="202A37"/>
                </a:solidFill>
                <a:latin typeface="Calibri"/>
              </a:rPr>
              <a:t>Binding EU climate regulation (2024–2033) · the post-2022 energy-price shock made energy a board topic · Microsoft Fabric matured (GA 2024) · IoT sensor costs collapsed · AI made pattern recognition affordable. The reasons to buy are structural and accelerating.</a:t>
            </a:r>
          </a:p>
        </p:txBody>
      </p:sp>
      <p:sp>
        <p:nvSpPr>
          <p:cNvPr id="23" name="TextBox 22"/>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24" name="TextBox 23"/>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COMPETITIVE LANDSCAPE</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Microsoft-native + EU-regulation niche + mid-market — a near-empty intersection</a:t>
            </a:r>
          </a:p>
        </p:txBody>
      </p:sp>
      <p:sp>
        <p:nvSpPr>
          <p:cNvPr id="6" name="Rectangle 5"/>
          <p:cNvSpPr/>
          <p:nvPr/>
        </p:nvSpPr>
        <p:spPr>
          <a:xfrm>
            <a:off x="502920" y="1920240"/>
            <a:ext cx="11201400" cy="45720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20240"/>
            <a:ext cx="4754880" cy="457200"/>
          </a:xfrm>
          <a:prstGeom prst="rect">
            <a:avLst/>
          </a:prstGeom>
          <a:noFill/>
        </p:spPr>
        <p:txBody>
          <a:bodyPr wrap="square" anchor="ctr" lIns="0" rIns="0" tIns="0" bIns="0">
            <a:spAutoFit/>
          </a:bodyPr>
          <a:lstStyle/>
          <a:p>
            <a:pPr algn="l">
              <a:lnSpc>
                <a:spcPct val="104000"/>
              </a:lnSpc>
              <a:spcBef>
                <a:spcPts val="0"/>
              </a:spcBef>
              <a:spcAft>
                <a:spcPts val="400"/>
              </a:spcAft>
            </a:pPr>
            <a:r>
              <a:rPr sz="1200" b="1" i="0">
                <a:solidFill>
                  <a:srgbClr val="FFFFFF"/>
                </a:solidFill>
                <a:latin typeface="Trebuchet MS"/>
              </a:rPr>
              <a:t>PLAYER</a:t>
            </a:r>
          </a:p>
        </p:txBody>
      </p:sp>
      <p:sp>
        <p:nvSpPr>
          <p:cNvPr id="8" name="TextBox 7"/>
          <p:cNvSpPr txBox="1"/>
          <p:nvPr/>
        </p:nvSpPr>
        <p:spPr>
          <a:xfrm>
            <a:off x="5440680" y="1920240"/>
            <a:ext cx="2926080" cy="457200"/>
          </a:xfrm>
          <a:prstGeom prst="rect">
            <a:avLst/>
          </a:prstGeom>
          <a:noFill/>
        </p:spPr>
        <p:txBody>
          <a:bodyPr wrap="square" anchor="ctr" lIns="0" rIns="0" tIns="0" bIns="0">
            <a:spAutoFit/>
          </a:bodyPr>
          <a:lstStyle/>
          <a:p>
            <a:pPr algn="l">
              <a:lnSpc>
                <a:spcPct val="104000"/>
              </a:lnSpc>
              <a:spcBef>
                <a:spcPts val="0"/>
              </a:spcBef>
              <a:spcAft>
                <a:spcPts val="400"/>
              </a:spcAft>
            </a:pPr>
            <a:r>
              <a:rPr sz="1200" b="1" i="0">
                <a:solidFill>
                  <a:srgbClr val="FFFFFF"/>
                </a:solidFill>
                <a:latin typeface="Trebuchet MS"/>
              </a:rPr>
              <a:t>WHERE THEY ARE</a:t>
            </a:r>
          </a:p>
        </p:txBody>
      </p:sp>
      <p:sp>
        <p:nvSpPr>
          <p:cNvPr id="9" name="TextBox 8"/>
          <p:cNvSpPr txBox="1"/>
          <p:nvPr/>
        </p:nvSpPr>
        <p:spPr>
          <a:xfrm>
            <a:off x="8366760" y="1920240"/>
            <a:ext cx="3200400" cy="457200"/>
          </a:xfrm>
          <a:prstGeom prst="rect">
            <a:avLst/>
          </a:prstGeom>
          <a:noFill/>
        </p:spPr>
        <p:txBody>
          <a:bodyPr wrap="square" anchor="ctr" lIns="0" rIns="0" tIns="0" bIns="0">
            <a:spAutoFit/>
          </a:bodyPr>
          <a:lstStyle/>
          <a:p>
            <a:pPr algn="l">
              <a:lnSpc>
                <a:spcPct val="104000"/>
              </a:lnSpc>
              <a:spcBef>
                <a:spcPts val="0"/>
              </a:spcBef>
              <a:spcAft>
                <a:spcPts val="400"/>
              </a:spcAft>
            </a:pPr>
            <a:r>
              <a:rPr sz="1200" b="1" i="0">
                <a:solidFill>
                  <a:srgbClr val="FFFFFF"/>
                </a:solidFill>
                <a:latin typeface="Trebuchet MS"/>
              </a:rPr>
              <a:t>GAP ENERGYLENS FILLS</a:t>
            </a:r>
          </a:p>
        </p:txBody>
      </p:sp>
      <p:sp>
        <p:nvSpPr>
          <p:cNvPr id="10" name="Rectangle 9"/>
          <p:cNvSpPr/>
          <p:nvPr/>
        </p:nvSpPr>
        <p:spPr>
          <a:xfrm>
            <a:off x="502920" y="2377440"/>
            <a:ext cx="11201400" cy="676656"/>
          </a:xfrm>
          <a:prstGeom prst="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377440"/>
            <a:ext cx="4572000" cy="676656"/>
          </a:xfrm>
          <a:prstGeom prst="rect">
            <a:avLst/>
          </a:prstGeom>
          <a:noFill/>
        </p:spPr>
        <p:txBody>
          <a:bodyPr wrap="square" anchor="ctr" lIns="0" rIns="0" tIns="0" bIns="0">
            <a:spAutoFit/>
          </a:bodyPr>
          <a:lstStyle/>
          <a:p>
            <a:pPr algn="l">
              <a:lnSpc>
                <a:spcPct val="104000"/>
              </a:lnSpc>
              <a:spcBef>
                <a:spcPts val="0"/>
              </a:spcBef>
              <a:spcAft>
                <a:spcPts val="400"/>
              </a:spcAft>
            </a:pPr>
            <a:r>
              <a:rPr sz="1300" b="1" i="0">
                <a:solidFill>
                  <a:srgbClr val="0B6E4F"/>
                </a:solidFill>
                <a:latin typeface="Calibri"/>
              </a:rPr>
              <a:t>Measurabl / Aquicore</a:t>
            </a:r>
          </a:p>
        </p:txBody>
      </p:sp>
      <p:sp>
        <p:nvSpPr>
          <p:cNvPr id="12" name="TextBox 11"/>
          <p:cNvSpPr txBox="1"/>
          <p:nvPr/>
        </p:nvSpPr>
        <p:spPr>
          <a:xfrm>
            <a:off x="5440680" y="2377440"/>
            <a:ext cx="2834640" cy="676656"/>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US enterprise, well-funded</a:t>
            </a:r>
          </a:p>
        </p:txBody>
      </p:sp>
      <p:sp>
        <p:nvSpPr>
          <p:cNvPr id="13" name="TextBox 12"/>
          <p:cNvSpPr txBox="1"/>
          <p:nvPr/>
        </p:nvSpPr>
        <p:spPr>
          <a:xfrm>
            <a:off x="8366760" y="2377440"/>
            <a:ext cx="3200400" cy="676656"/>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Mid-market EU coverage</a:t>
            </a:r>
          </a:p>
        </p:txBody>
      </p:sp>
      <p:sp>
        <p:nvSpPr>
          <p:cNvPr id="14" name="Rectangle 13"/>
          <p:cNvSpPr/>
          <p:nvPr/>
        </p:nvSpPr>
        <p:spPr>
          <a:xfrm>
            <a:off x="502920" y="3108960"/>
            <a:ext cx="11201400" cy="676656"/>
          </a:xfrm>
          <a:prstGeom prst="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108960"/>
            <a:ext cx="4572000" cy="676656"/>
          </a:xfrm>
          <a:prstGeom prst="rect">
            <a:avLst/>
          </a:prstGeom>
          <a:noFill/>
        </p:spPr>
        <p:txBody>
          <a:bodyPr wrap="square" anchor="ctr" lIns="0" rIns="0" tIns="0" bIns="0">
            <a:spAutoFit/>
          </a:bodyPr>
          <a:lstStyle/>
          <a:p>
            <a:pPr algn="l">
              <a:lnSpc>
                <a:spcPct val="104000"/>
              </a:lnSpc>
              <a:spcBef>
                <a:spcPts val="0"/>
              </a:spcBef>
              <a:spcAft>
                <a:spcPts val="400"/>
              </a:spcAft>
            </a:pPr>
            <a:r>
              <a:rPr sz="1300" b="1" i="0">
                <a:solidFill>
                  <a:srgbClr val="0B6E4F"/>
                </a:solidFill>
                <a:latin typeface="Calibri"/>
              </a:rPr>
              <a:t>Cortexa</a:t>
            </a:r>
          </a:p>
        </p:txBody>
      </p:sp>
      <p:sp>
        <p:nvSpPr>
          <p:cNvPr id="16" name="TextBox 15"/>
          <p:cNvSpPr txBox="1"/>
          <p:nvPr/>
        </p:nvSpPr>
        <p:spPr>
          <a:xfrm>
            <a:off x="5440680" y="3108960"/>
            <a:ext cx="2834640" cy="676656"/>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EU enterprise</a:t>
            </a:r>
          </a:p>
        </p:txBody>
      </p:sp>
      <p:sp>
        <p:nvSpPr>
          <p:cNvPr id="17" name="TextBox 16"/>
          <p:cNvSpPr txBox="1"/>
          <p:nvPr/>
        </p:nvSpPr>
        <p:spPr>
          <a:xfrm>
            <a:off x="8366760" y="3108960"/>
            <a:ext cx="3200400" cy="676656"/>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Mid-market accessibility &amp; price</a:t>
            </a:r>
          </a:p>
        </p:txBody>
      </p:sp>
      <p:sp>
        <p:nvSpPr>
          <p:cNvPr id="18" name="Rectangle 17"/>
          <p:cNvSpPr/>
          <p:nvPr/>
        </p:nvSpPr>
        <p:spPr>
          <a:xfrm>
            <a:off x="502920" y="3840480"/>
            <a:ext cx="11201400" cy="676656"/>
          </a:xfrm>
          <a:prstGeom prst="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840480"/>
            <a:ext cx="4572000" cy="676656"/>
          </a:xfrm>
          <a:prstGeom prst="rect">
            <a:avLst/>
          </a:prstGeom>
          <a:noFill/>
        </p:spPr>
        <p:txBody>
          <a:bodyPr wrap="square" anchor="ctr" lIns="0" rIns="0" tIns="0" bIns="0">
            <a:spAutoFit/>
          </a:bodyPr>
          <a:lstStyle/>
          <a:p>
            <a:pPr algn="l">
              <a:lnSpc>
                <a:spcPct val="104000"/>
              </a:lnSpc>
              <a:spcBef>
                <a:spcPts val="0"/>
              </a:spcBef>
              <a:spcAft>
                <a:spcPts val="400"/>
              </a:spcAft>
            </a:pPr>
            <a:r>
              <a:rPr sz="1300" b="1" i="0">
                <a:solidFill>
                  <a:srgbClr val="0B6E4F"/>
                </a:solidFill>
                <a:latin typeface="Calibri"/>
              </a:rPr>
              <a:t>Schneider EcoStruxure</a:t>
            </a:r>
          </a:p>
        </p:txBody>
      </p:sp>
      <p:sp>
        <p:nvSpPr>
          <p:cNvPr id="20" name="TextBox 19"/>
          <p:cNvSpPr txBox="1"/>
          <p:nvPr/>
        </p:nvSpPr>
        <p:spPr>
          <a:xfrm>
            <a:off x="5440680" y="3840480"/>
            <a:ext cx="2834640" cy="676656"/>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Peer: auditable reporting + AI</a:t>
            </a:r>
          </a:p>
        </p:txBody>
      </p:sp>
      <p:sp>
        <p:nvSpPr>
          <p:cNvPr id="21" name="TextBox 20"/>
          <p:cNvSpPr txBox="1"/>
          <p:nvPr/>
        </p:nvSpPr>
        <p:spPr>
          <a:xfrm>
            <a:off x="8366760" y="3840480"/>
            <a:ext cx="3200400" cy="676656"/>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We add multi-protocol IoT + Fabric-native</a:t>
            </a:r>
          </a:p>
        </p:txBody>
      </p:sp>
      <p:sp>
        <p:nvSpPr>
          <p:cNvPr id="22" name="Rectangle 21"/>
          <p:cNvSpPr/>
          <p:nvPr/>
        </p:nvSpPr>
        <p:spPr>
          <a:xfrm>
            <a:off x="502920" y="4572000"/>
            <a:ext cx="11201400" cy="676656"/>
          </a:xfrm>
          <a:prstGeom prst="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572000"/>
            <a:ext cx="4572000" cy="676656"/>
          </a:xfrm>
          <a:prstGeom prst="rect">
            <a:avLst/>
          </a:prstGeom>
          <a:noFill/>
        </p:spPr>
        <p:txBody>
          <a:bodyPr wrap="square" anchor="ctr" lIns="0" rIns="0" tIns="0" bIns="0">
            <a:spAutoFit/>
          </a:bodyPr>
          <a:lstStyle/>
          <a:p>
            <a:pPr algn="l">
              <a:lnSpc>
                <a:spcPct val="104000"/>
              </a:lnSpc>
              <a:spcBef>
                <a:spcPts val="0"/>
              </a:spcBef>
              <a:spcAft>
                <a:spcPts val="400"/>
              </a:spcAft>
            </a:pPr>
            <a:r>
              <a:rPr sz="1300" b="1" i="0">
                <a:solidFill>
                  <a:srgbClr val="0B6E4F"/>
                </a:solidFill>
                <a:latin typeface="Calibri"/>
              </a:rPr>
              <a:t>Siemens Desigo</a:t>
            </a:r>
          </a:p>
        </p:txBody>
      </p:sp>
      <p:sp>
        <p:nvSpPr>
          <p:cNvPr id="24" name="TextBox 23"/>
          <p:cNvSpPr txBox="1"/>
          <p:nvPr/>
        </p:nvSpPr>
        <p:spPr>
          <a:xfrm>
            <a:off x="5440680" y="4572000"/>
            <a:ext cx="2834640" cy="676656"/>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BMS / building automation</a:t>
            </a:r>
          </a:p>
        </p:txBody>
      </p:sp>
      <p:sp>
        <p:nvSpPr>
          <p:cNvPr id="25" name="TextBox 24"/>
          <p:cNvSpPr txBox="1"/>
          <p:nvPr/>
        </p:nvSpPr>
        <p:spPr>
          <a:xfrm>
            <a:off x="8366760" y="4572000"/>
            <a:ext cx="3200400" cy="676656"/>
          </a:xfrm>
          <a:prstGeom prst="rect">
            <a:avLst/>
          </a:prstGeom>
          <a:noFill/>
        </p:spPr>
        <p:txBody>
          <a:bodyPr wrap="square" anchor="ctr" lIns="0" rIns="0" tIns="0" bIns="0">
            <a:spAutoFit/>
          </a:bodyPr>
          <a:lstStyle/>
          <a:p>
            <a:pPr algn="l">
              <a:lnSpc>
                <a:spcPct val="104000"/>
              </a:lnSpc>
              <a:spcBef>
                <a:spcPts val="0"/>
              </a:spcBef>
              <a:spcAft>
                <a:spcPts val="400"/>
              </a:spcAft>
            </a:pPr>
            <a:r>
              <a:rPr sz="1250" b="0" i="0">
                <a:solidFill>
                  <a:srgbClr val="202A37"/>
                </a:solidFill>
                <a:latin typeface="Calibri"/>
              </a:rPr>
              <a:t>We are the analytics layer, not a BMS</a:t>
            </a:r>
          </a:p>
        </p:txBody>
      </p:sp>
      <p:sp>
        <p:nvSpPr>
          <p:cNvPr id="26" name="TextBox 25"/>
          <p:cNvSpPr txBox="1"/>
          <p:nvPr/>
        </p:nvSpPr>
        <p:spPr>
          <a:xfrm>
            <a:off x="502920" y="5806440"/>
            <a:ext cx="11155680" cy="548640"/>
          </a:xfrm>
          <a:prstGeom prst="rect">
            <a:avLst/>
          </a:prstGeom>
          <a:noFill/>
        </p:spPr>
        <p:txBody>
          <a:bodyPr wrap="square" anchor="t" lIns="0" rIns="0" tIns="0" bIns="0">
            <a:spAutoFit/>
          </a:bodyPr>
          <a:lstStyle/>
          <a:p>
            <a:pPr algn="l">
              <a:lnSpc>
                <a:spcPct val="104000"/>
              </a:lnSpc>
              <a:spcBef>
                <a:spcPts val="0"/>
              </a:spcBef>
              <a:spcAft>
                <a:spcPts val="400"/>
              </a:spcAft>
            </a:pPr>
            <a:r>
              <a:rPr sz="1350" b="1" i="0">
                <a:solidFill>
                  <a:srgbClr val="0B6E4F"/>
                </a:solidFill>
                <a:latin typeface="Calibri"/>
              </a:rPr>
              <a:t>Our angle: </a:t>
            </a:r>
            <a:r>
              <a:rPr sz="1350" b="0" i="1">
                <a:solidFill>
                  <a:srgbClr val="202A37"/>
                </a:solidFill>
                <a:latin typeface="Calibri"/>
              </a:rPr>
              <a:t>an AI Copilot that reasons over the Lakehouse via tool use — under €299/building/month.</a:t>
            </a:r>
          </a:p>
        </p:txBody>
      </p:sp>
      <p:sp>
        <p:nvSpPr>
          <p:cNvPr id="27" name="TextBox 2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28" name="TextBox 2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PRICING &amp; UNIT ECONOMICS</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Mid-market SaaS economics that work for a lean team</a:t>
            </a:r>
          </a:p>
        </p:txBody>
      </p:sp>
      <p:sp>
        <p:nvSpPr>
          <p:cNvPr id="6" name="Rounded Rectangle 5"/>
          <p:cNvSpPr/>
          <p:nvPr/>
        </p:nvSpPr>
        <p:spPr>
          <a:xfrm>
            <a:off x="502920" y="1965960"/>
            <a:ext cx="2670048"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39696"/>
            <a:ext cx="2194560" cy="365760"/>
          </a:xfrm>
          <a:prstGeom prst="rect">
            <a:avLst/>
          </a:prstGeom>
          <a:noFill/>
        </p:spPr>
        <p:txBody>
          <a:bodyPr wrap="square" anchor="t" lIns="0" rIns="0" tIns="0" bIns="0">
            <a:spAutoFit/>
          </a:bodyPr>
          <a:lstStyle/>
          <a:p>
            <a:pPr algn="l">
              <a:lnSpc>
                <a:spcPct val="104000"/>
              </a:lnSpc>
              <a:spcBef>
                <a:spcPts val="0"/>
              </a:spcBef>
              <a:spcAft>
                <a:spcPts val="400"/>
              </a:spcAft>
            </a:pPr>
            <a:r>
              <a:rPr sz="1500" b="1" i="0">
                <a:solidFill>
                  <a:srgbClr val="0B6E4F"/>
                </a:solidFill>
                <a:latin typeface="Trebuchet MS"/>
              </a:rPr>
              <a:t>Insight</a:t>
            </a:r>
          </a:p>
        </p:txBody>
      </p:sp>
      <p:sp>
        <p:nvSpPr>
          <p:cNvPr id="8" name="TextBox 7"/>
          <p:cNvSpPr txBox="1"/>
          <p:nvPr/>
        </p:nvSpPr>
        <p:spPr>
          <a:xfrm>
            <a:off x="731520" y="2542032"/>
            <a:ext cx="2194560" cy="640080"/>
          </a:xfrm>
          <a:prstGeom prst="rect">
            <a:avLst/>
          </a:prstGeom>
          <a:noFill/>
        </p:spPr>
        <p:txBody>
          <a:bodyPr wrap="square" anchor="t" lIns="0" rIns="0" tIns="0" bIns="0">
            <a:spAutoFit/>
          </a:bodyPr>
          <a:lstStyle/>
          <a:p>
            <a:pPr algn="l">
              <a:lnSpc>
                <a:spcPct val="104000"/>
              </a:lnSpc>
              <a:spcBef>
                <a:spcPts val="0"/>
              </a:spcBef>
              <a:spcAft>
                <a:spcPts val="400"/>
              </a:spcAft>
            </a:pPr>
            <a:r>
              <a:rPr sz="3000" b="1" i="0">
                <a:solidFill>
                  <a:srgbClr val="202A37"/>
                </a:solidFill>
                <a:latin typeface="Trebuchet MS"/>
              </a:rPr>
              <a:t>€99</a:t>
            </a:r>
          </a:p>
          <a:p>
            <a:pPr algn="l">
              <a:lnSpc>
                <a:spcPct val="104000"/>
              </a:lnSpc>
              <a:spcBef>
                <a:spcPts val="0"/>
              </a:spcBef>
              <a:spcAft>
                <a:spcPts val="400"/>
              </a:spcAft>
            </a:pPr>
            <a:r>
              <a:rPr sz="1000" b="0" i="0">
                <a:solidFill>
                  <a:srgbClr val="6B7280"/>
                </a:solidFill>
                <a:latin typeface="Calibri"/>
              </a:rPr>
              <a:t>/building/month</a:t>
            </a:r>
          </a:p>
        </p:txBody>
      </p:sp>
      <p:sp>
        <p:nvSpPr>
          <p:cNvPr id="9" name="TextBox 8"/>
          <p:cNvSpPr txBox="1"/>
          <p:nvPr/>
        </p:nvSpPr>
        <p:spPr>
          <a:xfrm>
            <a:off x="731520" y="3401568"/>
            <a:ext cx="2286000" cy="365760"/>
          </a:xfrm>
          <a:prstGeom prst="rect">
            <a:avLst/>
          </a:prstGeom>
          <a:noFill/>
        </p:spPr>
        <p:txBody>
          <a:bodyPr wrap="square" anchor="t" lIns="0" rIns="0" tIns="0" bIns="0">
            <a:spAutoFit/>
          </a:bodyPr>
          <a:lstStyle/>
          <a:p>
            <a:pPr algn="l">
              <a:lnSpc>
                <a:spcPct val="104000"/>
              </a:lnSpc>
              <a:spcBef>
                <a:spcPts val="0"/>
              </a:spcBef>
              <a:spcAft>
                <a:spcPts val="400"/>
              </a:spcAft>
            </a:pPr>
            <a:r>
              <a:rPr sz="1150" b="0" i="0">
                <a:solidFill>
                  <a:srgbClr val="6B7280"/>
                </a:solidFill>
                <a:latin typeface="Calibri"/>
              </a:rPr>
              <a:t>SME offices</a:t>
            </a:r>
          </a:p>
        </p:txBody>
      </p:sp>
      <p:sp>
        <p:nvSpPr>
          <p:cNvPr id="10" name="Rounded Rectangle 9"/>
          <p:cNvSpPr/>
          <p:nvPr/>
        </p:nvSpPr>
        <p:spPr>
          <a:xfrm>
            <a:off x="3355848" y="1965960"/>
            <a:ext cx="2670048"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84448" y="2139696"/>
            <a:ext cx="2194560" cy="365760"/>
          </a:xfrm>
          <a:prstGeom prst="rect">
            <a:avLst/>
          </a:prstGeom>
          <a:noFill/>
        </p:spPr>
        <p:txBody>
          <a:bodyPr wrap="square" anchor="t" lIns="0" rIns="0" tIns="0" bIns="0">
            <a:spAutoFit/>
          </a:bodyPr>
          <a:lstStyle/>
          <a:p>
            <a:pPr algn="l">
              <a:lnSpc>
                <a:spcPct val="104000"/>
              </a:lnSpc>
              <a:spcBef>
                <a:spcPts val="0"/>
              </a:spcBef>
              <a:spcAft>
                <a:spcPts val="400"/>
              </a:spcAft>
            </a:pPr>
            <a:r>
              <a:rPr sz="1500" b="1" i="0">
                <a:solidFill>
                  <a:srgbClr val="0B6E4F"/>
                </a:solidFill>
                <a:latin typeface="Trebuchet MS"/>
              </a:rPr>
              <a:t>Monitor</a:t>
            </a:r>
          </a:p>
        </p:txBody>
      </p:sp>
      <p:sp>
        <p:nvSpPr>
          <p:cNvPr id="12" name="TextBox 11"/>
          <p:cNvSpPr txBox="1"/>
          <p:nvPr/>
        </p:nvSpPr>
        <p:spPr>
          <a:xfrm>
            <a:off x="3584448" y="2542032"/>
            <a:ext cx="2194560" cy="640080"/>
          </a:xfrm>
          <a:prstGeom prst="rect">
            <a:avLst/>
          </a:prstGeom>
          <a:noFill/>
        </p:spPr>
        <p:txBody>
          <a:bodyPr wrap="square" anchor="t" lIns="0" rIns="0" tIns="0" bIns="0">
            <a:spAutoFit/>
          </a:bodyPr>
          <a:lstStyle/>
          <a:p>
            <a:pPr algn="l">
              <a:lnSpc>
                <a:spcPct val="104000"/>
              </a:lnSpc>
              <a:spcBef>
                <a:spcPts val="0"/>
              </a:spcBef>
              <a:spcAft>
                <a:spcPts val="400"/>
              </a:spcAft>
            </a:pPr>
            <a:r>
              <a:rPr sz="3000" b="1" i="0">
                <a:solidFill>
                  <a:srgbClr val="202A37"/>
                </a:solidFill>
                <a:latin typeface="Trebuchet MS"/>
              </a:rPr>
              <a:t>€299</a:t>
            </a:r>
          </a:p>
          <a:p>
            <a:pPr algn="l">
              <a:lnSpc>
                <a:spcPct val="104000"/>
              </a:lnSpc>
              <a:spcBef>
                <a:spcPts val="0"/>
              </a:spcBef>
              <a:spcAft>
                <a:spcPts val="400"/>
              </a:spcAft>
            </a:pPr>
            <a:r>
              <a:rPr sz="1000" b="0" i="0">
                <a:solidFill>
                  <a:srgbClr val="6B7280"/>
                </a:solidFill>
                <a:latin typeface="Calibri"/>
              </a:rPr>
              <a:t>/building/month</a:t>
            </a:r>
          </a:p>
        </p:txBody>
      </p:sp>
      <p:sp>
        <p:nvSpPr>
          <p:cNvPr id="13" name="TextBox 12"/>
          <p:cNvSpPr txBox="1"/>
          <p:nvPr/>
        </p:nvSpPr>
        <p:spPr>
          <a:xfrm>
            <a:off x="3584448" y="3401568"/>
            <a:ext cx="2286000" cy="365760"/>
          </a:xfrm>
          <a:prstGeom prst="rect">
            <a:avLst/>
          </a:prstGeom>
          <a:noFill/>
        </p:spPr>
        <p:txBody>
          <a:bodyPr wrap="square" anchor="t" lIns="0" rIns="0" tIns="0" bIns="0">
            <a:spAutoFit/>
          </a:bodyPr>
          <a:lstStyle/>
          <a:p>
            <a:pPr algn="l">
              <a:lnSpc>
                <a:spcPct val="104000"/>
              </a:lnSpc>
              <a:spcBef>
                <a:spcPts val="0"/>
              </a:spcBef>
              <a:spcAft>
                <a:spcPts val="400"/>
              </a:spcAft>
            </a:pPr>
            <a:r>
              <a:rPr sz="1150" b="0" i="0">
                <a:solidFill>
                  <a:srgbClr val="6B7280"/>
                </a:solidFill>
                <a:latin typeface="Calibri"/>
              </a:rPr>
              <a:t>mid-market property mgmt</a:t>
            </a:r>
          </a:p>
        </p:txBody>
      </p:sp>
      <p:sp>
        <p:nvSpPr>
          <p:cNvPr id="14" name="Rounded Rectangle 13"/>
          <p:cNvSpPr/>
          <p:nvPr/>
        </p:nvSpPr>
        <p:spPr>
          <a:xfrm>
            <a:off x="6208776" y="1965960"/>
            <a:ext cx="2670048"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2139696"/>
            <a:ext cx="2194560" cy="365760"/>
          </a:xfrm>
          <a:prstGeom prst="rect">
            <a:avLst/>
          </a:prstGeom>
          <a:noFill/>
        </p:spPr>
        <p:txBody>
          <a:bodyPr wrap="square" anchor="t" lIns="0" rIns="0" tIns="0" bIns="0">
            <a:spAutoFit/>
          </a:bodyPr>
          <a:lstStyle/>
          <a:p>
            <a:pPr algn="l">
              <a:lnSpc>
                <a:spcPct val="104000"/>
              </a:lnSpc>
              <a:spcBef>
                <a:spcPts val="0"/>
              </a:spcBef>
              <a:spcAft>
                <a:spcPts val="400"/>
              </a:spcAft>
            </a:pPr>
            <a:r>
              <a:rPr sz="1500" b="1" i="0">
                <a:solidFill>
                  <a:srgbClr val="0B6E4F"/>
                </a:solidFill>
                <a:latin typeface="Trebuchet MS"/>
              </a:rPr>
              <a:t>Copilot</a:t>
            </a:r>
          </a:p>
        </p:txBody>
      </p:sp>
      <p:sp>
        <p:nvSpPr>
          <p:cNvPr id="16" name="TextBox 15"/>
          <p:cNvSpPr txBox="1"/>
          <p:nvPr/>
        </p:nvSpPr>
        <p:spPr>
          <a:xfrm>
            <a:off x="6437376" y="2542032"/>
            <a:ext cx="2194560" cy="640080"/>
          </a:xfrm>
          <a:prstGeom prst="rect">
            <a:avLst/>
          </a:prstGeom>
          <a:noFill/>
        </p:spPr>
        <p:txBody>
          <a:bodyPr wrap="square" anchor="t" lIns="0" rIns="0" tIns="0" bIns="0">
            <a:spAutoFit/>
          </a:bodyPr>
          <a:lstStyle/>
          <a:p>
            <a:pPr algn="l">
              <a:lnSpc>
                <a:spcPct val="104000"/>
              </a:lnSpc>
              <a:spcBef>
                <a:spcPts val="0"/>
              </a:spcBef>
              <a:spcAft>
                <a:spcPts val="400"/>
              </a:spcAft>
            </a:pPr>
            <a:r>
              <a:rPr sz="3000" b="1" i="0">
                <a:solidFill>
                  <a:srgbClr val="202A37"/>
                </a:solidFill>
                <a:latin typeface="Trebuchet MS"/>
              </a:rPr>
              <a:t>€699+</a:t>
            </a:r>
          </a:p>
          <a:p>
            <a:pPr algn="l">
              <a:lnSpc>
                <a:spcPct val="104000"/>
              </a:lnSpc>
              <a:spcBef>
                <a:spcPts val="0"/>
              </a:spcBef>
              <a:spcAft>
                <a:spcPts val="400"/>
              </a:spcAft>
            </a:pPr>
            <a:r>
              <a:rPr sz="1000" b="0" i="0">
                <a:solidFill>
                  <a:srgbClr val="6B7280"/>
                </a:solidFill>
                <a:latin typeface="Calibri"/>
              </a:rPr>
              <a:t>/building/month</a:t>
            </a:r>
          </a:p>
        </p:txBody>
      </p:sp>
      <p:sp>
        <p:nvSpPr>
          <p:cNvPr id="17" name="TextBox 16"/>
          <p:cNvSpPr txBox="1"/>
          <p:nvPr/>
        </p:nvSpPr>
        <p:spPr>
          <a:xfrm>
            <a:off x="6437376" y="3401568"/>
            <a:ext cx="2286000" cy="365760"/>
          </a:xfrm>
          <a:prstGeom prst="rect">
            <a:avLst/>
          </a:prstGeom>
          <a:noFill/>
        </p:spPr>
        <p:txBody>
          <a:bodyPr wrap="square" anchor="t" lIns="0" rIns="0" tIns="0" bIns="0">
            <a:spAutoFit/>
          </a:bodyPr>
          <a:lstStyle/>
          <a:p>
            <a:pPr algn="l">
              <a:lnSpc>
                <a:spcPct val="104000"/>
              </a:lnSpc>
              <a:spcBef>
                <a:spcPts val="0"/>
              </a:spcBef>
              <a:spcAft>
                <a:spcPts val="400"/>
              </a:spcAft>
            </a:pPr>
            <a:r>
              <a:rPr sz="1150" b="0" i="0">
                <a:solidFill>
                  <a:srgbClr val="6B7280"/>
                </a:solidFill>
                <a:latin typeface="Calibri"/>
              </a:rPr>
              <a:t>enterprise / IoT-equipped</a:t>
            </a:r>
          </a:p>
        </p:txBody>
      </p:sp>
      <p:sp>
        <p:nvSpPr>
          <p:cNvPr id="18" name="Rounded Rectangle 17"/>
          <p:cNvSpPr/>
          <p:nvPr/>
        </p:nvSpPr>
        <p:spPr>
          <a:xfrm>
            <a:off x="9061704" y="1965960"/>
            <a:ext cx="2670048"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90304" y="2139696"/>
            <a:ext cx="2194560" cy="365760"/>
          </a:xfrm>
          <a:prstGeom prst="rect">
            <a:avLst/>
          </a:prstGeom>
          <a:noFill/>
        </p:spPr>
        <p:txBody>
          <a:bodyPr wrap="square" anchor="t" lIns="0" rIns="0" tIns="0" bIns="0">
            <a:spAutoFit/>
          </a:bodyPr>
          <a:lstStyle/>
          <a:p>
            <a:pPr algn="l">
              <a:lnSpc>
                <a:spcPct val="104000"/>
              </a:lnSpc>
              <a:spcBef>
                <a:spcPts val="0"/>
              </a:spcBef>
              <a:spcAft>
                <a:spcPts val="400"/>
              </a:spcAft>
            </a:pPr>
            <a:r>
              <a:rPr sz="1500" b="1" i="0">
                <a:solidFill>
                  <a:srgbClr val="0B6E4F"/>
                </a:solidFill>
                <a:latin typeface="Trebuchet MS"/>
              </a:rPr>
              <a:t>Custom</a:t>
            </a:r>
          </a:p>
        </p:txBody>
      </p:sp>
      <p:sp>
        <p:nvSpPr>
          <p:cNvPr id="20" name="TextBox 19"/>
          <p:cNvSpPr txBox="1"/>
          <p:nvPr/>
        </p:nvSpPr>
        <p:spPr>
          <a:xfrm>
            <a:off x="9290304" y="2542032"/>
            <a:ext cx="2194560" cy="640080"/>
          </a:xfrm>
          <a:prstGeom prst="rect">
            <a:avLst/>
          </a:prstGeom>
          <a:noFill/>
        </p:spPr>
        <p:txBody>
          <a:bodyPr wrap="square" anchor="t" lIns="0" rIns="0" tIns="0" bIns="0">
            <a:spAutoFit/>
          </a:bodyPr>
          <a:lstStyle/>
          <a:p>
            <a:pPr algn="l">
              <a:lnSpc>
                <a:spcPct val="104000"/>
              </a:lnSpc>
              <a:spcBef>
                <a:spcPts val="0"/>
              </a:spcBef>
              <a:spcAft>
                <a:spcPts val="400"/>
              </a:spcAft>
            </a:pPr>
            <a:r>
              <a:rPr sz="3000" b="1" i="0">
                <a:solidFill>
                  <a:srgbClr val="202A37"/>
                </a:solidFill>
                <a:latin typeface="Trebuchet MS"/>
              </a:rPr>
              <a:t>€5–50k</a:t>
            </a:r>
          </a:p>
          <a:p>
            <a:pPr algn="l">
              <a:lnSpc>
                <a:spcPct val="104000"/>
              </a:lnSpc>
              <a:spcBef>
                <a:spcPts val="0"/>
              </a:spcBef>
              <a:spcAft>
                <a:spcPts val="400"/>
              </a:spcAft>
            </a:pPr>
            <a:r>
              <a:rPr sz="1000" b="0" i="0">
                <a:solidFill>
                  <a:srgbClr val="6B7280"/>
                </a:solidFill>
                <a:latin typeface="Calibri"/>
              </a:rPr>
              <a:t>/building/month</a:t>
            </a:r>
          </a:p>
        </p:txBody>
      </p:sp>
      <p:sp>
        <p:nvSpPr>
          <p:cNvPr id="21" name="TextBox 20"/>
          <p:cNvSpPr txBox="1"/>
          <p:nvPr/>
        </p:nvSpPr>
        <p:spPr>
          <a:xfrm>
            <a:off x="9290304" y="3401568"/>
            <a:ext cx="2286000" cy="365760"/>
          </a:xfrm>
          <a:prstGeom prst="rect">
            <a:avLst/>
          </a:prstGeom>
          <a:noFill/>
        </p:spPr>
        <p:txBody>
          <a:bodyPr wrap="square" anchor="t" lIns="0" rIns="0" tIns="0" bIns="0">
            <a:spAutoFit/>
          </a:bodyPr>
          <a:lstStyle/>
          <a:p>
            <a:pPr algn="l">
              <a:lnSpc>
                <a:spcPct val="104000"/>
              </a:lnSpc>
              <a:spcBef>
                <a:spcPts val="0"/>
              </a:spcBef>
              <a:spcAft>
                <a:spcPts val="400"/>
              </a:spcAft>
            </a:pPr>
            <a:r>
              <a:rPr sz="1150" b="0" i="0">
                <a:solidFill>
                  <a:srgbClr val="6B7280"/>
                </a:solidFill>
                <a:latin typeface="Calibri"/>
              </a:rPr>
              <a:t>10+ building portfolios</a:t>
            </a:r>
          </a:p>
        </p:txBody>
      </p:sp>
      <p:sp>
        <p:nvSpPr>
          <p:cNvPr id="22" name="Rounded Rectangle 21"/>
          <p:cNvSpPr/>
          <p:nvPr/>
        </p:nvSpPr>
        <p:spPr>
          <a:xfrm>
            <a:off x="502920" y="4160520"/>
            <a:ext cx="3602736" cy="1417320"/>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15968"/>
            <a:ext cx="3108960" cy="731520"/>
          </a:xfrm>
          <a:prstGeom prst="rect">
            <a:avLst/>
          </a:prstGeom>
          <a:noFill/>
        </p:spPr>
        <p:txBody>
          <a:bodyPr wrap="square" anchor="t" lIns="0" rIns="0" tIns="0" bIns="0">
            <a:spAutoFit/>
          </a:bodyPr>
          <a:lstStyle/>
          <a:p>
            <a:pPr algn="l">
              <a:lnSpc>
                <a:spcPct val="104000"/>
              </a:lnSpc>
              <a:spcBef>
                <a:spcPts val="0"/>
              </a:spcBef>
              <a:spcAft>
                <a:spcPts val="400"/>
              </a:spcAft>
            </a:pPr>
            <a:r>
              <a:rPr sz="3200" b="1" i="0">
                <a:solidFill>
                  <a:srgbClr val="7EE8BE"/>
                </a:solidFill>
                <a:latin typeface="Trebuchet MS"/>
              </a:rPr>
              <a:t>36–108×</a:t>
            </a:r>
          </a:p>
        </p:txBody>
      </p:sp>
      <p:sp>
        <p:nvSpPr>
          <p:cNvPr id="24" name="TextBox 23"/>
          <p:cNvSpPr txBox="1"/>
          <p:nvPr/>
        </p:nvSpPr>
        <p:spPr>
          <a:xfrm>
            <a:off x="795528" y="5120640"/>
            <a:ext cx="3108960" cy="36576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FFFFFF"/>
                </a:solidFill>
                <a:latin typeface="Calibri"/>
              </a:rPr>
              <a:t>LTV / CAC</a:t>
            </a:r>
          </a:p>
        </p:txBody>
      </p:sp>
      <p:sp>
        <p:nvSpPr>
          <p:cNvPr id="25" name="Rounded Rectangle 24"/>
          <p:cNvSpPr/>
          <p:nvPr/>
        </p:nvSpPr>
        <p:spPr>
          <a:xfrm>
            <a:off x="4288536" y="4160520"/>
            <a:ext cx="3602736" cy="1417320"/>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62856" y="4315968"/>
            <a:ext cx="3108960" cy="731520"/>
          </a:xfrm>
          <a:prstGeom prst="rect">
            <a:avLst/>
          </a:prstGeom>
          <a:noFill/>
        </p:spPr>
        <p:txBody>
          <a:bodyPr wrap="square" anchor="t" lIns="0" rIns="0" tIns="0" bIns="0">
            <a:spAutoFit/>
          </a:bodyPr>
          <a:lstStyle/>
          <a:p>
            <a:pPr algn="l">
              <a:lnSpc>
                <a:spcPct val="104000"/>
              </a:lnSpc>
              <a:spcBef>
                <a:spcPts val="0"/>
              </a:spcBef>
              <a:spcAft>
                <a:spcPts val="400"/>
              </a:spcAft>
            </a:pPr>
            <a:r>
              <a:rPr sz="3200" b="1" i="0">
                <a:solidFill>
                  <a:srgbClr val="7EE8BE"/>
                </a:solidFill>
                <a:latin typeface="Trebuchet MS"/>
              </a:rPr>
              <a:t>2–4 mo</a:t>
            </a:r>
          </a:p>
        </p:txBody>
      </p:sp>
      <p:sp>
        <p:nvSpPr>
          <p:cNvPr id="27" name="TextBox 26"/>
          <p:cNvSpPr txBox="1"/>
          <p:nvPr/>
        </p:nvSpPr>
        <p:spPr>
          <a:xfrm>
            <a:off x="4581144" y="5120640"/>
            <a:ext cx="3108960" cy="36576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FFFFFF"/>
                </a:solidFill>
                <a:latin typeface="Calibri"/>
              </a:rPr>
              <a:t>payback period</a:t>
            </a:r>
          </a:p>
        </p:txBody>
      </p:sp>
      <p:sp>
        <p:nvSpPr>
          <p:cNvPr id="28" name="Rounded Rectangle 27"/>
          <p:cNvSpPr/>
          <p:nvPr/>
        </p:nvSpPr>
        <p:spPr>
          <a:xfrm>
            <a:off x="8074152" y="4160520"/>
            <a:ext cx="3602736" cy="1417320"/>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8472" y="4315968"/>
            <a:ext cx="3108960" cy="731520"/>
          </a:xfrm>
          <a:prstGeom prst="rect">
            <a:avLst/>
          </a:prstGeom>
          <a:noFill/>
        </p:spPr>
        <p:txBody>
          <a:bodyPr wrap="square" anchor="t" lIns="0" rIns="0" tIns="0" bIns="0">
            <a:spAutoFit/>
          </a:bodyPr>
          <a:lstStyle/>
          <a:p>
            <a:pPr algn="l">
              <a:lnSpc>
                <a:spcPct val="104000"/>
              </a:lnSpc>
              <a:spcBef>
                <a:spcPts val="0"/>
              </a:spcBef>
              <a:spcAft>
                <a:spcPts val="400"/>
              </a:spcAft>
            </a:pPr>
            <a:r>
              <a:rPr sz="3200" b="1" i="0">
                <a:solidFill>
                  <a:srgbClr val="7EE8BE"/>
                </a:solidFill>
                <a:latin typeface="Trebuchet MS"/>
              </a:rPr>
              <a:t>~85%</a:t>
            </a:r>
          </a:p>
        </p:txBody>
      </p:sp>
      <p:sp>
        <p:nvSpPr>
          <p:cNvPr id="30" name="TextBox 29"/>
          <p:cNvSpPr txBox="1"/>
          <p:nvPr/>
        </p:nvSpPr>
        <p:spPr>
          <a:xfrm>
            <a:off x="8366760" y="5120640"/>
            <a:ext cx="3108960" cy="36576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FFFFFF"/>
                </a:solidFill>
                <a:latin typeface="Calibri"/>
              </a:rPr>
              <a:t>gross margin</a:t>
            </a:r>
          </a:p>
        </p:txBody>
      </p:sp>
      <p:sp>
        <p:nvSpPr>
          <p:cNvPr id="31" name="TextBox 30"/>
          <p:cNvSpPr txBox="1"/>
          <p:nvPr/>
        </p:nvSpPr>
        <p:spPr>
          <a:xfrm>
            <a:off x="502920" y="5806440"/>
            <a:ext cx="11155680" cy="457200"/>
          </a:xfrm>
          <a:prstGeom prst="rect">
            <a:avLst/>
          </a:prstGeom>
          <a:noFill/>
        </p:spPr>
        <p:txBody>
          <a:bodyPr wrap="square" anchor="t" lIns="0" rIns="0" tIns="0" bIns="0">
            <a:spAutoFit/>
          </a:bodyPr>
          <a:lstStyle/>
          <a:p>
            <a:pPr algn="l">
              <a:lnSpc>
                <a:spcPct val="104000"/>
              </a:lnSpc>
              <a:spcBef>
                <a:spcPts val="0"/>
              </a:spcBef>
              <a:spcAft>
                <a:spcPts val="400"/>
              </a:spcAft>
            </a:pPr>
            <a:r>
              <a:rPr sz="1300" b="0" i="1">
                <a:solidFill>
                  <a:srgbClr val="6B7280"/>
                </a:solidFill>
                <a:latin typeface="Calibri"/>
              </a:rPr>
              <a:t>First three months free (pilot) to win reference cases · break-even at customer #2.</a:t>
            </a:r>
          </a:p>
        </p:txBody>
      </p:sp>
      <p:sp>
        <p:nvSpPr>
          <p:cNvPr id="32" name="TextBox 31"/>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33" name="TextBox 32"/>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GO-TO-MARKET &amp; VISION</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Bottom-up, validation-first — then expand</a:t>
            </a:r>
          </a:p>
        </p:txBody>
      </p:sp>
      <p:sp>
        <p:nvSpPr>
          <p:cNvPr id="6" name="Rounded Rectangle 5"/>
          <p:cNvSpPr/>
          <p:nvPr/>
        </p:nvSpPr>
        <p:spPr>
          <a:xfrm>
            <a:off x="502920" y="1965960"/>
            <a:ext cx="2011680" cy="1005840"/>
          </a:xfrm>
          <a:prstGeom prst="round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65960"/>
            <a:ext cx="1737360" cy="1005840"/>
          </a:xfrm>
          <a:prstGeom prst="rect">
            <a:avLst/>
          </a:prstGeom>
          <a:noFill/>
        </p:spPr>
        <p:txBody>
          <a:bodyPr wrap="square" anchor="ctr" lIns="0" rIns="0" tIns="0" bIns="0">
            <a:spAutoFit/>
          </a:bodyPr>
          <a:lstStyle/>
          <a:p>
            <a:pPr algn="l">
              <a:lnSpc>
                <a:spcPct val="104000"/>
              </a:lnSpc>
              <a:spcBef>
                <a:spcPts val="0"/>
              </a:spcBef>
              <a:spcAft>
                <a:spcPts val="400"/>
              </a:spcAft>
            </a:pPr>
            <a:r>
              <a:rPr sz="1500" b="1" i="0">
                <a:solidFill>
                  <a:srgbClr val="FFFFFF"/>
                </a:solidFill>
                <a:latin typeface="Trebuchet MS"/>
              </a:rPr>
              <a:t>Now → 6 mo</a:t>
            </a:r>
          </a:p>
        </p:txBody>
      </p:sp>
      <p:sp>
        <p:nvSpPr>
          <p:cNvPr id="8" name="TextBox 7"/>
          <p:cNvSpPr txBox="1"/>
          <p:nvPr/>
        </p:nvSpPr>
        <p:spPr>
          <a:xfrm>
            <a:off x="2697480" y="1965960"/>
            <a:ext cx="8961120" cy="1005840"/>
          </a:xfrm>
          <a:prstGeom prst="rect">
            <a:avLst/>
          </a:prstGeom>
          <a:noFill/>
        </p:spPr>
        <p:txBody>
          <a:bodyPr wrap="square" anchor="ctr" lIns="0" rIns="0" tIns="0" bIns="0">
            <a:spAutoFit/>
          </a:bodyPr>
          <a:lstStyle/>
          <a:p>
            <a:pPr algn="l">
              <a:lnSpc>
                <a:spcPct val="104000"/>
              </a:lnSpc>
              <a:spcBef>
                <a:spcPts val="0"/>
              </a:spcBef>
              <a:spcAft>
                <a:spcPts val="400"/>
              </a:spcAft>
            </a:pPr>
            <a:r>
              <a:rPr sz="1400" b="0" i="0">
                <a:solidFill>
                  <a:srgbClr val="202A37"/>
                </a:solidFill>
                <a:latin typeface="Calibri"/>
              </a:rPr>
              <a:t>Free university &amp; DACH mid-market pilots (close in 2–8 weeks). BSBI campus pilot first.</a:t>
            </a:r>
          </a:p>
        </p:txBody>
      </p:sp>
      <p:sp>
        <p:nvSpPr>
          <p:cNvPr id="9" name="Rounded Rectangle 8"/>
          <p:cNvSpPr/>
          <p:nvPr/>
        </p:nvSpPr>
        <p:spPr>
          <a:xfrm>
            <a:off x="502920" y="3099816"/>
            <a:ext cx="2011680" cy="1005840"/>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99816"/>
            <a:ext cx="1737360" cy="1005840"/>
          </a:xfrm>
          <a:prstGeom prst="rect">
            <a:avLst/>
          </a:prstGeom>
          <a:noFill/>
        </p:spPr>
        <p:txBody>
          <a:bodyPr wrap="square" anchor="ctr" lIns="0" rIns="0" tIns="0" bIns="0">
            <a:spAutoFit/>
          </a:bodyPr>
          <a:lstStyle/>
          <a:p>
            <a:pPr algn="l">
              <a:lnSpc>
                <a:spcPct val="104000"/>
              </a:lnSpc>
              <a:spcBef>
                <a:spcPts val="0"/>
              </a:spcBef>
              <a:spcAft>
                <a:spcPts val="400"/>
              </a:spcAft>
            </a:pPr>
            <a:r>
              <a:rPr sz="1500" b="1" i="0">
                <a:solidFill>
                  <a:srgbClr val="FFFFFF"/>
                </a:solidFill>
                <a:latin typeface="Trebuchet MS"/>
              </a:rPr>
              <a:t>6–18 mo</a:t>
            </a:r>
          </a:p>
        </p:txBody>
      </p:sp>
      <p:sp>
        <p:nvSpPr>
          <p:cNvPr id="11" name="TextBox 10"/>
          <p:cNvSpPr txBox="1"/>
          <p:nvPr/>
        </p:nvSpPr>
        <p:spPr>
          <a:xfrm>
            <a:off x="2697480" y="3099816"/>
            <a:ext cx="8961120" cy="1005840"/>
          </a:xfrm>
          <a:prstGeom prst="rect">
            <a:avLst/>
          </a:prstGeom>
          <a:noFill/>
        </p:spPr>
        <p:txBody>
          <a:bodyPr wrap="square" anchor="ctr" lIns="0" rIns="0" tIns="0" bIns="0">
            <a:spAutoFit/>
          </a:bodyPr>
          <a:lstStyle/>
          <a:p>
            <a:pPr algn="l">
              <a:lnSpc>
                <a:spcPct val="104000"/>
              </a:lnSpc>
              <a:spcBef>
                <a:spcPts val="0"/>
              </a:spcBef>
              <a:spcAft>
                <a:spcPts val="400"/>
              </a:spcAft>
            </a:pPr>
            <a:r>
              <a:rPr sz="1400" b="0" i="0">
                <a:solidFill>
                  <a:srgbClr val="202A37"/>
                </a:solidFill>
                <a:latin typeface="Calibri"/>
              </a:rPr>
              <a:t>Convert pilots to paying customers; case studies open hotels, healthcare, REITs.</a:t>
            </a:r>
          </a:p>
        </p:txBody>
      </p:sp>
      <p:sp>
        <p:nvSpPr>
          <p:cNvPr id="12" name="Rounded Rectangle 11"/>
          <p:cNvSpPr/>
          <p:nvPr/>
        </p:nvSpPr>
        <p:spPr>
          <a:xfrm>
            <a:off x="502920" y="4233672"/>
            <a:ext cx="2011680" cy="1005840"/>
          </a:xfrm>
          <a:prstGeom prst="round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233672"/>
            <a:ext cx="1737360" cy="1005840"/>
          </a:xfrm>
          <a:prstGeom prst="rect">
            <a:avLst/>
          </a:prstGeom>
          <a:noFill/>
        </p:spPr>
        <p:txBody>
          <a:bodyPr wrap="square" anchor="ctr" lIns="0" rIns="0" tIns="0" bIns="0">
            <a:spAutoFit/>
          </a:bodyPr>
          <a:lstStyle/>
          <a:p>
            <a:pPr algn="l">
              <a:lnSpc>
                <a:spcPct val="104000"/>
              </a:lnSpc>
              <a:spcBef>
                <a:spcPts val="0"/>
              </a:spcBef>
              <a:spcAft>
                <a:spcPts val="400"/>
              </a:spcAft>
            </a:pPr>
            <a:r>
              <a:rPr sz="1500" b="1" i="0">
                <a:solidFill>
                  <a:srgbClr val="FFFFFF"/>
                </a:solidFill>
                <a:latin typeface="Trebuchet MS"/>
              </a:rPr>
              <a:t>18 mo+</a:t>
            </a:r>
          </a:p>
        </p:txBody>
      </p:sp>
      <p:sp>
        <p:nvSpPr>
          <p:cNvPr id="14" name="TextBox 13"/>
          <p:cNvSpPr txBox="1"/>
          <p:nvPr/>
        </p:nvSpPr>
        <p:spPr>
          <a:xfrm>
            <a:off x="2697480" y="4233672"/>
            <a:ext cx="8961120" cy="1005840"/>
          </a:xfrm>
          <a:prstGeom prst="rect">
            <a:avLst/>
          </a:prstGeom>
          <a:noFill/>
        </p:spPr>
        <p:txBody>
          <a:bodyPr wrap="square" anchor="ctr" lIns="0" rIns="0" tIns="0" bIns="0">
            <a:spAutoFit/>
          </a:bodyPr>
          <a:lstStyle/>
          <a:p>
            <a:pPr algn="l">
              <a:lnSpc>
                <a:spcPct val="104000"/>
              </a:lnSpc>
              <a:spcBef>
                <a:spcPts val="0"/>
              </a:spcBef>
              <a:spcAft>
                <a:spcPts val="400"/>
              </a:spcAft>
            </a:pPr>
            <a:r>
              <a:rPr sz="1400" b="0" i="0">
                <a:solidFill>
                  <a:srgbClr val="202A37"/>
                </a:solidFill>
                <a:latin typeface="Calibri"/>
              </a:rPr>
              <a:t>Microsoft Partner Network co-selling; expand DACH → BeNeLux → Southern Europe.</a:t>
            </a:r>
          </a:p>
        </p:txBody>
      </p:sp>
      <p:sp>
        <p:nvSpPr>
          <p:cNvPr id="15" name="Rounded Rectangle 14"/>
          <p:cNvSpPr/>
          <p:nvPr/>
        </p:nvSpPr>
        <p:spPr>
          <a:xfrm>
            <a:off x="502920" y="5532120"/>
            <a:ext cx="11201400" cy="914400"/>
          </a:xfrm>
          <a:prstGeom prst="roundRect">
            <a:avLst/>
          </a:prstGeom>
          <a:solidFill>
            <a:srgbClr val="ECF5F1"/>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532120"/>
            <a:ext cx="10698480" cy="914400"/>
          </a:xfrm>
          <a:prstGeom prst="rect">
            <a:avLst/>
          </a:prstGeom>
          <a:noFill/>
        </p:spPr>
        <p:txBody>
          <a:bodyPr wrap="square" anchor="ctr" lIns="0" rIns="0" tIns="0" bIns="0">
            <a:spAutoFit/>
          </a:bodyPr>
          <a:lstStyle/>
          <a:p>
            <a:pPr algn="l">
              <a:lnSpc>
                <a:spcPct val="104000"/>
              </a:lnSpc>
              <a:spcBef>
                <a:spcPts val="0"/>
              </a:spcBef>
              <a:spcAft>
                <a:spcPts val="400"/>
              </a:spcAft>
            </a:pPr>
            <a:r>
              <a:rPr sz="1400" b="1" i="0">
                <a:solidFill>
                  <a:srgbClr val="0B6E4F"/>
                </a:solidFill>
                <a:latin typeface="Calibri"/>
              </a:rPr>
              <a:t>The 3-year vision: </a:t>
            </a:r>
            <a:r>
              <a:rPr sz="1400" b="0" i="0">
                <a:solidFill>
                  <a:srgbClr val="202A37"/>
                </a:solidFill>
                <a:latin typeface="Calibri"/>
              </a:rPr>
              <a:t>the default Microsoft Fabric-native energy-intelligence platform for European commercial real estate — 100+ buildings, €1–2M ARR, a Microsoft partner in climate-tech.</a:t>
            </a:r>
          </a:p>
        </p:txBody>
      </p:sp>
      <p:sp>
        <p:nvSpPr>
          <p:cNvPr id="17" name="TextBox 16"/>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18" name="TextBox 17"/>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60350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493776"/>
            <a:ext cx="10515600" cy="310896"/>
          </a:xfrm>
          <a:prstGeom prst="rect">
            <a:avLst/>
          </a:prstGeom>
          <a:noFill/>
        </p:spPr>
        <p:txBody>
          <a:bodyPr wrap="square" anchor="t" lIns="0" rIns="0" tIns="0" bIns="0">
            <a:spAutoFit/>
          </a:bodyPr>
          <a:lstStyle/>
          <a:p>
            <a:pPr algn="l">
              <a:lnSpc>
                <a:spcPct val="104000"/>
              </a:lnSpc>
              <a:spcBef>
                <a:spcPts val="0"/>
              </a:spcBef>
              <a:spcAft>
                <a:spcPts val="400"/>
              </a:spcAft>
            </a:pPr>
            <a:r>
              <a:rPr sz="1200" b="1" i="0">
                <a:solidFill>
                  <a:srgbClr val="10B981"/>
                </a:solidFill>
                <a:latin typeface="Trebuchet MS"/>
              </a:rPr>
              <a:t>WHY THIS FOUNDER</a:t>
            </a:r>
          </a:p>
        </p:txBody>
      </p:sp>
      <p:sp>
        <p:nvSpPr>
          <p:cNvPr id="5" name="TextBox 4"/>
          <p:cNvSpPr txBox="1"/>
          <p:nvPr/>
        </p:nvSpPr>
        <p:spPr>
          <a:xfrm>
            <a:off x="502920" y="859536"/>
            <a:ext cx="11155680" cy="640080"/>
          </a:xfrm>
          <a:prstGeom prst="rect">
            <a:avLst/>
          </a:prstGeom>
          <a:noFill/>
        </p:spPr>
        <p:txBody>
          <a:bodyPr wrap="square" anchor="t" lIns="0" rIns="0" tIns="0" bIns="0">
            <a:spAutoFit/>
          </a:bodyPr>
          <a:lstStyle/>
          <a:p>
            <a:pPr algn="l">
              <a:lnSpc>
                <a:spcPct val="104000"/>
              </a:lnSpc>
              <a:spcBef>
                <a:spcPts val="0"/>
              </a:spcBef>
              <a:spcAft>
                <a:spcPts val="400"/>
              </a:spcAft>
            </a:pPr>
            <a:r>
              <a:rPr sz="2500" b="1" i="0">
                <a:solidFill>
                  <a:srgbClr val="0B6E4F"/>
                </a:solidFill>
                <a:latin typeface="Trebuchet MS"/>
              </a:rPr>
              <a:t>Energy domain depth × modern data engineering — a rare combination</a:t>
            </a:r>
          </a:p>
        </p:txBody>
      </p:sp>
      <p:sp>
        <p:nvSpPr>
          <p:cNvPr id="6" name="Rounded Rectangle 5"/>
          <p:cNvSpPr/>
          <p:nvPr/>
        </p:nvSpPr>
        <p:spPr>
          <a:xfrm>
            <a:off x="502920" y="2011680"/>
            <a:ext cx="3611880"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212848"/>
            <a:ext cx="3154680" cy="91440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0B6E4F"/>
                </a:solidFill>
                <a:latin typeface="Trebuchet MS"/>
              </a:rPr>
              <a:t>5 weeks</a:t>
            </a:r>
          </a:p>
        </p:txBody>
      </p:sp>
      <p:sp>
        <p:nvSpPr>
          <p:cNvPr id="8" name="TextBox 7"/>
          <p:cNvSpPr txBox="1"/>
          <p:nvPr/>
        </p:nvSpPr>
        <p:spPr>
          <a:xfrm>
            <a:off x="749808" y="3090672"/>
            <a:ext cx="3118104" cy="64008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202A37"/>
                </a:solidFill>
                <a:latin typeface="Calibri"/>
              </a:rPr>
              <a:t>to build the whole stack, solo</a:t>
            </a:r>
          </a:p>
        </p:txBody>
      </p:sp>
      <p:sp>
        <p:nvSpPr>
          <p:cNvPr id="9" name="TextBox 8"/>
          <p:cNvSpPr txBox="1"/>
          <p:nvPr/>
        </p:nvSpPr>
        <p:spPr>
          <a:xfrm>
            <a:off x="749808" y="3401568"/>
            <a:ext cx="3118104" cy="365760"/>
          </a:xfrm>
          <a:prstGeom prst="rect">
            <a:avLst/>
          </a:prstGeom>
          <a:noFill/>
        </p:spPr>
        <p:txBody>
          <a:bodyPr wrap="square" anchor="t" lIns="0" rIns="0" tIns="0" bIns="0">
            <a:spAutoFit/>
          </a:bodyPr>
          <a:lstStyle/>
          <a:p>
            <a:pPr algn="l">
              <a:lnSpc>
                <a:spcPct val="104000"/>
              </a:lnSpc>
              <a:spcBef>
                <a:spcPts val="0"/>
              </a:spcBef>
              <a:spcAft>
                <a:spcPts val="400"/>
              </a:spcAft>
            </a:pPr>
            <a:r>
              <a:rPr sz="1100" b="0" i="0">
                <a:solidFill>
                  <a:srgbClr val="6B7280"/>
                </a:solidFill>
                <a:latin typeface="Calibri"/>
              </a:rPr>
              <a:t>pipeline → app → AI Copilot</a:t>
            </a:r>
          </a:p>
        </p:txBody>
      </p:sp>
      <p:sp>
        <p:nvSpPr>
          <p:cNvPr id="10" name="Rounded Rectangle 9"/>
          <p:cNvSpPr/>
          <p:nvPr/>
        </p:nvSpPr>
        <p:spPr>
          <a:xfrm>
            <a:off x="4288536" y="2011680"/>
            <a:ext cx="3611880"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2212848"/>
            <a:ext cx="3154680" cy="91440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0B6E4F"/>
                </a:solidFill>
                <a:latin typeface="Trebuchet MS"/>
              </a:rPr>
              <a:t>DP-600</a:t>
            </a:r>
          </a:p>
        </p:txBody>
      </p:sp>
      <p:sp>
        <p:nvSpPr>
          <p:cNvPr id="12" name="TextBox 11"/>
          <p:cNvSpPr txBox="1"/>
          <p:nvPr/>
        </p:nvSpPr>
        <p:spPr>
          <a:xfrm>
            <a:off x="4535424" y="3090672"/>
            <a:ext cx="3118104" cy="64008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202A37"/>
                </a:solidFill>
                <a:latin typeface="Calibri"/>
              </a:rPr>
              <a:t>Microsoft Fabric certified</a:t>
            </a:r>
          </a:p>
        </p:txBody>
      </p:sp>
      <p:sp>
        <p:nvSpPr>
          <p:cNvPr id="13" name="TextBox 12"/>
          <p:cNvSpPr txBox="1"/>
          <p:nvPr/>
        </p:nvSpPr>
        <p:spPr>
          <a:xfrm>
            <a:off x="4535424" y="3401568"/>
            <a:ext cx="3118104" cy="365760"/>
          </a:xfrm>
          <a:prstGeom prst="rect">
            <a:avLst/>
          </a:prstGeom>
          <a:noFill/>
        </p:spPr>
        <p:txBody>
          <a:bodyPr wrap="square" anchor="t" lIns="0" rIns="0" tIns="0" bIns="0">
            <a:spAutoFit/>
          </a:bodyPr>
          <a:lstStyle/>
          <a:p>
            <a:pPr algn="l">
              <a:lnSpc>
                <a:spcPct val="104000"/>
              </a:lnSpc>
              <a:spcBef>
                <a:spcPts val="0"/>
              </a:spcBef>
              <a:spcAft>
                <a:spcPts val="400"/>
              </a:spcAft>
            </a:pPr>
            <a:r>
              <a:rPr sz="1100" b="0" i="0">
                <a:solidFill>
                  <a:srgbClr val="6B7280"/>
                </a:solidFill>
                <a:latin typeface="Calibri"/>
              </a:rPr>
              <a:t>few solo founders hold it</a:t>
            </a:r>
          </a:p>
        </p:txBody>
      </p:sp>
      <p:sp>
        <p:nvSpPr>
          <p:cNvPr id="14" name="Rounded Rectangle 13"/>
          <p:cNvSpPr/>
          <p:nvPr/>
        </p:nvSpPr>
        <p:spPr>
          <a:xfrm>
            <a:off x="8074152" y="2011680"/>
            <a:ext cx="3611880" cy="1828800"/>
          </a:xfrm>
          <a:prstGeom prst="roundRect">
            <a:avLst/>
          </a:prstGeom>
          <a:solidFill>
            <a:srgbClr val="F6F9F7"/>
          </a:solidFill>
          <a:ln w="12700">
            <a:solidFill>
              <a:srgbClr val="CFE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212848"/>
            <a:ext cx="3154680" cy="914400"/>
          </a:xfrm>
          <a:prstGeom prst="rect">
            <a:avLst/>
          </a:prstGeom>
          <a:noFill/>
        </p:spPr>
        <p:txBody>
          <a:bodyPr wrap="square" anchor="t" lIns="0" rIns="0" tIns="0" bIns="0">
            <a:spAutoFit/>
          </a:bodyPr>
          <a:lstStyle/>
          <a:p>
            <a:pPr algn="l">
              <a:lnSpc>
                <a:spcPct val="104000"/>
              </a:lnSpc>
              <a:spcBef>
                <a:spcPts val="0"/>
              </a:spcBef>
              <a:spcAft>
                <a:spcPts val="400"/>
              </a:spcAft>
            </a:pPr>
            <a:r>
              <a:rPr sz="4000" b="1" i="0">
                <a:solidFill>
                  <a:srgbClr val="0B6E4F"/>
                </a:solidFill>
                <a:latin typeface="Trebuchet MS"/>
              </a:rPr>
              <a:t>B.Sc.+M.Sc.</a:t>
            </a:r>
          </a:p>
        </p:txBody>
      </p:sp>
      <p:sp>
        <p:nvSpPr>
          <p:cNvPr id="16" name="TextBox 15"/>
          <p:cNvSpPr txBox="1"/>
          <p:nvPr/>
        </p:nvSpPr>
        <p:spPr>
          <a:xfrm>
            <a:off x="8321040" y="3090672"/>
            <a:ext cx="3118104" cy="640080"/>
          </a:xfrm>
          <a:prstGeom prst="rect">
            <a:avLst/>
          </a:prstGeom>
          <a:noFill/>
        </p:spPr>
        <p:txBody>
          <a:bodyPr wrap="square" anchor="t" lIns="0" rIns="0" tIns="0" bIns="0">
            <a:spAutoFit/>
          </a:bodyPr>
          <a:lstStyle/>
          <a:p>
            <a:pPr algn="l">
              <a:lnSpc>
                <a:spcPct val="104000"/>
              </a:lnSpc>
              <a:spcBef>
                <a:spcPts val="0"/>
              </a:spcBef>
              <a:spcAft>
                <a:spcPts val="400"/>
              </a:spcAft>
            </a:pPr>
            <a:r>
              <a:rPr sz="1300" b="1" i="0">
                <a:solidFill>
                  <a:srgbClr val="202A37"/>
                </a:solidFill>
                <a:latin typeface="Calibri"/>
              </a:rPr>
              <a:t>Energy Engineering + Management</a:t>
            </a:r>
          </a:p>
        </p:txBody>
      </p:sp>
      <p:sp>
        <p:nvSpPr>
          <p:cNvPr id="17" name="TextBox 16"/>
          <p:cNvSpPr txBox="1"/>
          <p:nvPr/>
        </p:nvSpPr>
        <p:spPr>
          <a:xfrm>
            <a:off x="8321040" y="3401568"/>
            <a:ext cx="3118104" cy="365760"/>
          </a:xfrm>
          <a:prstGeom prst="rect">
            <a:avLst/>
          </a:prstGeom>
          <a:noFill/>
        </p:spPr>
        <p:txBody>
          <a:bodyPr wrap="square" anchor="t" lIns="0" rIns="0" tIns="0" bIns="0">
            <a:spAutoFit/>
          </a:bodyPr>
          <a:lstStyle/>
          <a:p>
            <a:pPr algn="l">
              <a:lnSpc>
                <a:spcPct val="104000"/>
              </a:lnSpc>
              <a:spcBef>
                <a:spcPts val="0"/>
              </a:spcBef>
              <a:spcAft>
                <a:spcPts val="400"/>
              </a:spcAft>
            </a:pPr>
            <a:r>
              <a:rPr sz="1100" b="0" i="0">
                <a:solidFill>
                  <a:srgbClr val="6B7280"/>
                </a:solidFill>
                <a:latin typeface="Calibri"/>
              </a:rPr>
              <a:t>Yaşar + BSBI (June 2026)</a:t>
            </a:r>
          </a:p>
        </p:txBody>
      </p:sp>
      <p:sp>
        <p:nvSpPr>
          <p:cNvPr id="18" name="TextBox 17"/>
          <p:cNvSpPr txBox="1"/>
          <p:nvPr/>
        </p:nvSpPr>
        <p:spPr>
          <a:xfrm>
            <a:off x="502920" y="4160520"/>
            <a:ext cx="11155680" cy="1828800"/>
          </a:xfrm>
          <a:prstGeom prst="rect">
            <a:avLst/>
          </a:prstGeom>
          <a:noFill/>
        </p:spPr>
        <p:txBody>
          <a:bodyPr wrap="square" anchor="t" lIns="0" rIns="0" tIns="0" bIns="0">
            <a:spAutoFit/>
          </a:bodyPr>
          <a:lstStyle/>
          <a:p>
            <a:pPr algn="l">
              <a:lnSpc>
                <a:spcPct val="104000"/>
              </a:lnSpc>
              <a:spcBef>
                <a:spcPts val="0"/>
              </a:spcBef>
              <a:spcAft>
                <a:spcPts val="800"/>
              </a:spcAft>
            </a:pPr>
            <a:r>
              <a:rPr sz="1500" b="0" i="0">
                <a:solidFill>
                  <a:srgbClr val="202A37"/>
                </a:solidFill>
                <a:latin typeface="Calibri"/>
              </a:rPr>
              <a:t>Most BI developers don't know kWh/m² or Scope 2; most energy engineers don't know medallion or tool use. EnergyLens sits at the intersection — and was executed end-to-end, solo, accelerated by AI-assisted development. An 18-month post-graduation visa gives the runway to incorporate in Germany.</a:t>
            </a:r>
          </a:p>
        </p:txBody>
      </p:sp>
      <p:sp>
        <p:nvSpPr>
          <p:cNvPr id="19" name="TextBox 18"/>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6B7280"/>
                </a:solidFill>
                <a:latin typeface="Trebuchet MS"/>
              </a:rPr>
              <a:t>EnergyLens</a:t>
            </a:r>
            <a:r>
              <a:rPr sz="900" b="0" i="0">
                <a:solidFill>
                  <a:srgbClr val="6B7280"/>
                </a:solidFill>
                <a:latin typeface="Calibri"/>
              </a:rPr>
              <a:t>   Platform Showcase</a:t>
            </a:r>
          </a:p>
        </p:txBody>
      </p:sp>
      <p:sp>
        <p:nvSpPr>
          <p:cNvPr id="20" name="TextBox 19"/>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6B728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640080"/>
            <a:ext cx="10058400" cy="365760"/>
          </a:xfrm>
          <a:prstGeom prst="rect">
            <a:avLst/>
          </a:prstGeom>
          <a:noFill/>
        </p:spPr>
        <p:txBody>
          <a:bodyPr wrap="square" anchor="t" lIns="0" rIns="0" tIns="0" bIns="0">
            <a:spAutoFit/>
          </a:bodyPr>
          <a:lstStyle/>
          <a:p>
            <a:pPr algn="l">
              <a:lnSpc>
                <a:spcPct val="104000"/>
              </a:lnSpc>
              <a:spcBef>
                <a:spcPts val="0"/>
              </a:spcBef>
              <a:spcAft>
                <a:spcPts val="400"/>
              </a:spcAft>
            </a:pPr>
            <a:r>
              <a:rPr sz="1400" b="1" i="0">
                <a:solidFill>
                  <a:srgbClr val="7EE8BE"/>
                </a:solidFill>
                <a:latin typeface="Trebuchet MS"/>
              </a:rPr>
              <a:t>THE ASK</a:t>
            </a:r>
          </a:p>
        </p:txBody>
      </p:sp>
      <p:sp>
        <p:nvSpPr>
          <p:cNvPr id="5" name="TextBox 4"/>
          <p:cNvSpPr txBox="1"/>
          <p:nvPr/>
        </p:nvSpPr>
        <p:spPr>
          <a:xfrm>
            <a:off x="914400" y="1005840"/>
            <a:ext cx="10515600" cy="731520"/>
          </a:xfrm>
          <a:prstGeom prst="rect">
            <a:avLst/>
          </a:prstGeom>
          <a:noFill/>
        </p:spPr>
        <p:txBody>
          <a:bodyPr wrap="square" anchor="t" lIns="0" rIns="0" tIns="0" bIns="0">
            <a:spAutoFit/>
          </a:bodyPr>
          <a:lstStyle/>
          <a:p>
            <a:pPr algn="l">
              <a:lnSpc>
                <a:spcPct val="104000"/>
              </a:lnSpc>
              <a:spcBef>
                <a:spcPts val="0"/>
              </a:spcBef>
              <a:spcAft>
                <a:spcPts val="400"/>
              </a:spcAft>
            </a:pPr>
            <a:r>
              <a:rPr sz="3400" b="1" i="0">
                <a:solidFill>
                  <a:srgbClr val="FFFFFF"/>
                </a:solidFill>
                <a:latin typeface="Trebuchet MS"/>
              </a:rPr>
              <a:t>How you can help</a:t>
            </a:r>
          </a:p>
        </p:txBody>
      </p:sp>
      <p:sp>
        <p:nvSpPr>
          <p:cNvPr id="6" name="Rounded Rectangle 5"/>
          <p:cNvSpPr/>
          <p:nvPr/>
        </p:nvSpPr>
        <p:spPr>
          <a:xfrm>
            <a:off x="914400" y="1965960"/>
            <a:ext cx="10332720" cy="1325880"/>
          </a:xfrm>
          <a:prstGeom prst="roundRect">
            <a:avLst/>
          </a:prstGeom>
          <a:solidFill>
            <a:srgbClr val="0C241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112264"/>
            <a:ext cx="9784080" cy="365760"/>
          </a:xfrm>
          <a:prstGeom prst="rect">
            <a:avLst/>
          </a:prstGeom>
          <a:noFill/>
        </p:spPr>
        <p:txBody>
          <a:bodyPr wrap="square" anchor="t" lIns="0" rIns="0" tIns="0" bIns="0">
            <a:spAutoFit/>
          </a:bodyPr>
          <a:lstStyle/>
          <a:p>
            <a:pPr algn="l">
              <a:lnSpc>
                <a:spcPct val="104000"/>
              </a:lnSpc>
              <a:spcBef>
                <a:spcPts val="0"/>
              </a:spcBef>
              <a:spcAft>
                <a:spcPts val="400"/>
              </a:spcAft>
            </a:pPr>
            <a:r>
              <a:rPr sz="1700" b="1" i="0">
                <a:solidFill>
                  <a:srgbClr val="7EE8BE"/>
                </a:solidFill>
                <a:latin typeface="Trebuchet MS"/>
              </a:rPr>
              <a:t>1 · EXIST academic mentor</a:t>
            </a:r>
          </a:p>
        </p:txBody>
      </p:sp>
      <p:sp>
        <p:nvSpPr>
          <p:cNvPr id="8" name="TextBox 7"/>
          <p:cNvSpPr txBox="1"/>
          <p:nvPr/>
        </p:nvSpPr>
        <p:spPr>
          <a:xfrm>
            <a:off x="1188720" y="2514600"/>
            <a:ext cx="9784080" cy="731520"/>
          </a:xfrm>
          <a:prstGeom prst="rect">
            <a:avLst/>
          </a:prstGeom>
          <a:noFill/>
        </p:spPr>
        <p:txBody>
          <a:bodyPr wrap="square" anchor="t" lIns="0" rIns="0" tIns="0" bIns="0">
            <a:spAutoFit/>
          </a:bodyPr>
          <a:lstStyle/>
          <a:p>
            <a:pPr algn="l">
              <a:lnSpc>
                <a:spcPct val="104000"/>
              </a:lnSpc>
              <a:spcBef>
                <a:spcPts val="0"/>
              </a:spcBef>
              <a:spcAft>
                <a:spcPts val="400"/>
              </a:spcAft>
            </a:pPr>
            <a:r>
              <a:rPr sz="1300" b="0" i="0">
                <a:solidFill>
                  <a:srgbClr val="FFFFFF"/>
                </a:solidFill>
                <a:latin typeface="Calibri"/>
              </a:rPr>
              <a:t>EXIST is the German federal founder grant (~€65k / 12 months). It requires an academic mentor letter. Since EnergyLens grew from my M.Sc. work, I'd be honored if you'd serve as mentor — one short letter (I'll draft it) and a couple of alignment chats.</a:t>
            </a:r>
          </a:p>
        </p:txBody>
      </p:sp>
      <p:sp>
        <p:nvSpPr>
          <p:cNvPr id="9" name="Rounded Rectangle 8"/>
          <p:cNvSpPr/>
          <p:nvPr/>
        </p:nvSpPr>
        <p:spPr>
          <a:xfrm>
            <a:off x="914400" y="3429000"/>
            <a:ext cx="10332720" cy="1325880"/>
          </a:xfrm>
          <a:prstGeom prst="roundRect">
            <a:avLst/>
          </a:prstGeom>
          <a:solidFill>
            <a:srgbClr val="0C241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575304"/>
            <a:ext cx="9784080" cy="365760"/>
          </a:xfrm>
          <a:prstGeom prst="rect">
            <a:avLst/>
          </a:prstGeom>
          <a:noFill/>
        </p:spPr>
        <p:txBody>
          <a:bodyPr wrap="square" anchor="t" lIns="0" rIns="0" tIns="0" bIns="0">
            <a:spAutoFit/>
          </a:bodyPr>
          <a:lstStyle/>
          <a:p>
            <a:pPr algn="l">
              <a:lnSpc>
                <a:spcPct val="104000"/>
              </a:lnSpc>
              <a:spcBef>
                <a:spcPts val="0"/>
              </a:spcBef>
              <a:spcAft>
                <a:spcPts val="400"/>
              </a:spcAft>
            </a:pPr>
            <a:r>
              <a:rPr sz="1700" b="1" i="0">
                <a:solidFill>
                  <a:srgbClr val="7EE8BE"/>
                </a:solidFill>
                <a:latin typeface="Trebuchet MS"/>
              </a:rPr>
              <a:t>2 · BSBI campus pilot</a:t>
            </a:r>
          </a:p>
        </p:txBody>
      </p:sp>
      <p:sp>
        <p:nvSpPr>
          <p:cNvPr id="11" name="TextBox 10"/>
          <p:cNvSpPr txBox="1"/>
          <p:nvPr/>
        </p:nvSpPr>
        <p:spPr>
          <a:xfrm>
            <a:off x="1188720" y="3977640"/>
            <a:ext cx="9784080" cy="731520"/>
          </a:xfrm>
          <a:prstGeom prst="rect">
            <a:avLst/>
          </a:prstGeom>
          <a:noFill/>
        </p:spPr>
        <p:txBody>
          <a:bodyPr wrap="square" anchor="t" lIns="0" rIns="0" tIns="0" bIns="0">
            <a:spAutoFit/>
          </a:bodyPr>
          <a:lstStyle/>
          <a:p>
            <a:pPr algn="l">
              <a:lnSpc>
                <a:spcPct val="104000"/>
              </a:lnSpc>
              <a:spcBef>
                <a:spcPts val="0"/>
              </a:spcBef>
              <a:spcAft>
                <a:spcPts val="400"/>
              </a:spcAft>
            </a:pPr>
            <a:r>
              <a:rPr sz="1300" b="0" i="0">
                <a:solidFill>
                  <a:srgbClr val="FFFFFF"/>
                </a:solidFill>
                <a:latin typeface="Calibri"/>
              </a:rPr>
              <a:t>A free, six-month, RLS-secured pilot I run end-to-end — real-time visibility for the facilities team, a named case study for BSBI, and validation for my M.Sc. capstone. No cost, no commitment.</a:t>
            </a:r>
          </a:p>
        </p:txBody>
      </p:sp>
      <p:sp>
        <p:nvSpPr>
          <p:cNvPr id="12" name="Rounded Rectangle 11"/>
          <p:cNvSpPr/>
          <p:nvPr/>
        </p:nvSpPr>
        <p:spPr>
          <a:xfrm>
            <a:off x="914400" y="4892040"/>
            <a:ext cx="10332720" cy="1325880"/>
          </a:xfrm>
          <a:prstGeom prst="roundRect">
            <a:avLst/>
          </a:prstGeom>
          <a:solidFill>
            <a:srgbClr val="0C241E"/>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5038344"/>
            <a:ext cx="9784080" cy="365760"/>
          </a:xfrm>
          <a:prstGeom prst="rect">
            <a:avLst/>
          </a:prstGeom>
          <a:noFill/>
        </p:spPr>
        <p:txBody>
          <a:bodyPr wrap="square" anchor="t" lIns="0" rIns="0" tIns="0" bIns="0">
            <a:spAutoFit/>
          </a:bodyPr>
          <a:lstStyle/>
          <a:p>
            <a:pPr algn="l">
              <a:lnSpc>
                <a:spcPct val="104000"/>
              </a:lnSpc>
              <a:spcBef>
                <a:spcPts val="0"/>
              </a:spcBef>
              <a:spcAft>
                <a:spcPts val="400"/>
              </a:spcAft>
            </a:pPr>
            <a:r>
              <a:rPr sz="1700" b="1" i="0">
                <a:solidFill>
                  <a:srgbClr val="7EE8BE"/>
                </a:solidFill>
                <a:latin typeface="Trebuchet MS"/>
              </a:rPr>
              <a:t>3 · Ongoing advisory (optional)</a:t>
            </a:r>
          </a:p>
        </p:txBody>
      </p:sp>
      <p:sp>
        <p:nvSpPr>
          <p:cNvPr id="14" name="TextBox 13"/>
          <p:cNvSpPr txBox="1"/>
          <p:nvPr/>
        </p:nvSpPr>
        <p:spPr>
          <a:xfrm>
            <a:off x="1188720" y="5440680"/>
            <a:ext cx="9784080" cy="731520"/>
          </a:xfrm>
          <a:prstGeom prst="rect">
            <a:avLst/>
          </a:prstGeom>
          <a:noFill/>
        </p:spPr>
        <p:txBody>
          <a:bodyPr wrap="square" anchor="t" lIns="0" rIns="0" tIns="0" bIns="0">
            <a:spAutoFit/>
          </a:bodyPr>
          <a:lstStyle/>
          <a:p>
            <a:pPr algn="l">
              <a:lnSpc>
                <a:spcPct val="104000"/>
              </a:lnSpc>
              <a:spcBef>
                <a:spcPts val="0"/>
              </a:spcBef>
              <a:spcAft>
                <a:spcPts val="400"/>
              </a:spcAft>
            </a:pPr>
            <a:r>
              <a:rPr sz="1300" b="0" i="0">
                <a:solidFill>
                  <a:srgbClr val="FFFFFF"/>
                </a:solidFill>
                <a:latin typeface="Calibri"/>
              </a:rPr>
              <a:t>Occasional monthly / quarterly check-ins on the energy-management and academic angles. No formal commitment — just openness to input.</a:t>
            </a:r>
          </a:p>
        </p:txBody>
      </p:sp>
      <p:sp>
        <p:nvSpPr>
          <p:cNvPr id="15" name="TextBox 14"/>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7EE8BE"/>
                </a:solidFill>
                <a:latin typeface="Trebuchet MS"/>
              </a:rPr>
              <a:t>EnergyLens</a:t>
            </a:r>
            <a:r>
              <a:rPr sz="900" b="0" i="0">
                <a:solidFill>
                  <a:srgbClr val="7EE8BE"/>
                </a:solidFill>
                <a:latin typeface="Calibri"/>
              </a:rPr>
              <a:t>   Platform Showcase</a:t>
            </a:r>
          </a:p>
        </p:txBody>
      </p:sp>
      <p:sp>
        <p:nvSpPr>
          <p:cNvPr id="16" name="TextBox 15"/>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7EE8BE"/>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2651760"/>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2514600"/>
            <a:ext cx="10058400" cy="822960"/>
          </a:xfrm>
          <a:prstGeom prst="rect">
            <a:avLst/>
          </a:prstGeom>
          <a:noFill/>
        </p:spPr>
        <p:txBody>
          <a:bodyPr wrap="square" anchor="t" lIns="0" rIns="0" tIns="0" bIns="0">
            <a:spAutoFit/>
          </a:bodyPr>
          <a:lstStyle/>
          <a:p>
            <a:pPr algn="l">
              <a:lnSpc>
                <a:spcPct val="104000"/>
              </a:lnSpc>
              <a:spcBef>
                <a:spcPts val="0"/>
              </a:spcBef>
              <a:spcAft>
                <a:spcPts val="400"/>
              </a:spcAft>
            </a:pPr>
            <a:r>
              <a:rPr sz="4800" b="1" i="0">
                <a:solidFill>
                  <a:srgbClr val="FFFFFF"/>
                </a:solidFill>
                <a:latin typeface="Trebuchet MS"/>
              </a:rPr>
              <a:t>Thank you.</a:t>
            </a:r>
          </a:p>
        </p:txBody>
      </p:sp>
      <p:sp>
        <p:nvSpPr>
          <p:cNvPr id="6" name="TextBox 5"/>
          <p:cNvSpPr txBox="1"/>
          <p:nvPr/>
        </p:nvSpPr>
        <p:spPr>
          <a:xfrm>
            <a:off x="941832" y="3611880"/>
            <a:ext cx="10058400" cy="457200"/>
          </a:xfrm>
          <a:prstGeom prst="rect">
            <a:avLst/>
          </a:prstGeom>
          <a:noFill/>
        </p:spPr>
        <p:txBody>
          <a:bodyPr wrap="square" anchor="t" lIns="0" rIns="0" tIns="0" bIns="0">
            <a:spAutoFit/>
          </a:bodyPr>
          <a:lstStyle/>
          <a:p>
            <a:pPr algn="l">
              <a:lnSpc>
                <a:spcPct val="104000"/>
              </a:lnSpc>
              <a:spcBef>
                <a:spcPts val="0"/>
              </a:spcBef>
              <a:spcAft>
                <a:spcPts val="400"/>
              </a:spcAft>
            </a:pPr>
            <a:r>
              <a:rPr sz="1700" b="0" i="0">
                <a:solidFill>
                  <a:srgbClr val="7EE8BE"/>
                </a:solidFill>
                <a:latin typeface="Calibri"/>
              </a:rPr>
              <a:t>I'd welcome your guidance — and your support on the EXIST application.</a:t>
            </a:r>
          </a:p>
        </p:txBody>
      </p:sp>
      <p:sp>
        <p:nvSpPr>
          <p:cNvPr id="7" name="TextBox 6"/>
          <p:cNvSpPr txBox="1"/>
          <p:nvPr/>
        </p:nvSpPr>
        <p:spPr>
          <a:xfrm>
            <a:off x="941832" y="4480560"/>
            <a:ext cx="10515600" cy="365760"/>
          </a:xfrm>
          <a:prstGeom prst="rect">
            <a:avLst/>
          </a:prstGeom>
          <a:noFill/>
        </p:spPr>
        <p:txBody>
          <a:bodyPr wrap="square" anchor="t" lIns="0" rIns="0" tIns="0" bIns="0">
            <a:spAutoFit/>
          </a:bodyPr>
          <a:lstStyle/>
          <a:p>
            <a:pPr algn="l">
              <a:lnSpc>
                <a:spcPct val="104000"/>
              </a:lnSpc>
              <a:spcBef>
                <a:spcPts val="0"/>
              </a:spcBef>
              <a:spcAft>
                <a:spcPts val="400"/>
              </a:spcAft>
            </a:pPr>
            <a:r>
              <a:rPr sz="1400" b="0" i="0">
                <a:solidFill>
                  <a:srgbClr val="FFFFFF"/>
                </a:solidFill>
                <a:latin typeface="Calibri"/>
              </a:rPr>
              <a:t>Ali Mert Özdemir   ·   energylens.eu   ·   Microsoft DP-600</a:t>
            </a:r>
          </a:p>
        </p:txBody>
      </p:sp>
      <p:sp>
        <p:nvSpPr>
          <p:cNvPr id="8" name="TextBox 7"/>
          <p:cNvSpPr txBox="1"/>
          <p:nvPr/>
        </p:nvSpPr>
        <p:spPr>
          <a:xfrm>
            <a:off x="941832" y="4846320"/>
            <a:ext cx="10058400" cy="365760"/>
          </a:xfrm>
          <a:prstGeom prst="rect">
            <a:avLst/>
          </a:prstGeom>
          <a:noFill/>
        </p:spPr>
        <p:txBody>
          <a:bodyPr wrap="square" anchor="t" lIns="0" rIns="0" tIns="0" bIns="0">
            <a:spAutoFit/>
          </a:bodyPr>
          <a:lstStyle/>
          <a:p>
            <a:pPr algn="l">
              <a:lnSpc>
                <a:spcPct val="104000"/>
              </a:lnSpc>
              <a:spcBef>
                <a:spcPts val="0"/>
              </a:spcBef>
              <a:spcAft>
                <a:spcPts val="400"/>
              </a:spcAft>
            </a:pPr>
            <a:r>
              <a:rPr sz="1300" b="0" i="0">
                <a:solidFill>
                  <a:srgbClr val="7EE8BE"/>
                </a:solidFill>
                <a:latin typeface="Calibri"/>
              </a:rPr>
              <a:t>Demo: https://youtu.be/0IiqssHYtkY</a:t>
            </a:r>
          </a:p>
        </p:txBody>
      </p:sp>
      <p:sp>
        <p:nvSpPr>
          <p:cNvPr id="9" name="TextBox 8"/>
          <p:cNvSpPr txBox="1"/>
          <p:nvPr/>
        </p:nvSpPr>
        <p:spPr>
          <a:xfrm>
            <a:off x="502920" y="6464808"/>
            <a:ext cx="7315200" cy="274320"/>
          </a:xfrm>
          <a:prstGeom prst="rect">
            <a:avLst/>
          </a:prstGeom>
          <a:noFill/>
        </p:spPr>
        <p:txBody>
          <a:bodyPr wrap="square" anchor="t" lIns="0" rIns="0" tIns="0" bIns="0">
            <a:spAutoFit/>
          </a:bodyPr>
          <a:lstStyle/>
          <a:p>
            <a:pPr algn="l">
              <a:lnSpc>
                <a:spcPct val="104000"/>
              </a:lnSpc>
              <a:spcBef>
                <a:spcPts val="0"/>
              </a:spcBef>
              <a:spcAft>
                <a:spcPts val="400"/>
              </a:spcAft>
            </a:pPr>
            <a:r>
              <a:rPr sz="900" b="1" i="0">
                <a:solidFill>
                  <a:srgbClr val="7EE8BE"/>
                </a:solidFill>
                <a:latin typeface="Trebuchet MS"/>
              </a:rPr>
              <a:t>EnergyLens</a:t>
            </a:r>
            <a:r>
              <a:rPr sz="900" b="0" i="0">
                <a:solidFill>
                  <a:srgbClr val="7EE8BE"/>
                </a:solidFill>
                <a:latin typeface="Calibri"/>
              </a:rPr>
              <a:t>   Platform Showcase</a:t>
            </a:r>
          </a:p>
        </p:txBody>
      </p:sp>
      <p:sp>
        <p:nvSpPr>
          <p:cNvPr id="10" name="TextBox 9"/>
          <p:cNvSpPr txBox="1"/>
          <p:nvPr/>
        </p:nvSpPr>
        <p:spPr>
          <a:xfrm>
            <a:off x="10972800" y="6464808"/>
            <a:ext cx="731520" cy="274320"/>
          </a:xfrm>
          <a:prstGeom prst="rect">
            <a:avLst/>
          </a:prstGeom>
          <a:noFill/>
        </p:spPr>
        <p:txBody>
          <a:bodyPr wrap="square" anchor="t" lIns="0" rIns="0" tIns="0" bIns="0">
            <a:spAutoFit/>
          </a:bodyPr>
          <a:lstStyle/>
          <a:p>
            <a:pPr algn="r">
              <a:lnSpc>
                <a:spcPct val="104000"/>
              </a:lnSpc>
              <a:spcBef>
                <a:spcPts val="0"/>
              </a:spcBef>
              <a:spcAft>
                <a:spcPts val="400"/>
              </a:spcAft>
            </a:pPr>
            <a:r>
              <a:rPr sz="900" b="0" i="0">
                <a:solidFill>
                  <a:srgbClr val="7EE8BE"/>
                </a:solidFill>
                <a:latin typeface="Calibri"/>
              </a:rPr>
              <a:t>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
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8229600" y="0"/>
            <a:ext cx="4572000" cy="6858000"/>
          </a:xfrm>
          <a:prstGeom prst="rtTriangl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200" b="1" i="0">
                <a:solidFill>
                  <a:srgbClr val="1D9E75"/>
                </a:solidFill>
                <a:latin typeface="Calibri"/>
              </a:rPr>
              <a:t>EnergyLens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0" i="1">
                <a:solidFill>
                  <a:srgbClr val="F1EFE8"/>
                </a:solidFill>
                <a:latin typeface="Calibri"/>
              </a:rPr>
              <a:t>Smart energy for smart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DCAA5"/>
                </a:solidFill>
                <a:latin typeface="Calibri"/>
              </a:rPr>
              <a:t>Microsoft Fabric-native energy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DCAA5"/>
                </a:solidFill>
                <a:latin typeface="Calibri"/>
              </a:rPr>
              <a:t>for European commercial real estate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1EFE8"/>
                </a:solidFill>
                <a:latin typeface="Calibri"/>
              </a:rPr>
              <a:t>Ali Mert Özdemir · Founder · Berlin · alimertozdem@gmail.com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European commercial buildings are blind to their own energy.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6040" cy="1371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10312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1D9E75"/>
                </a:solidFill>
                <a:latin typeface="Calibri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6324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of EU energy</a:t>
            </a:r>
          </a:p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consumed by buildings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606040" cy="13716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639922"/>
                </a:solidFill>
                <a:latin typeface="Calibri"/>
              </a:rPr>
              <a:t>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of EU CO₂ emissions</a:t>
            </a:r>
          </a:p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from buildings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606040" cy="137160"/>
          </a:xfrm>
          <a:prstGeom prst="rect">
            <a:avLst/>
          </a:prstGeom>
          <a:solidFill>
            <a:srgbClr val="D1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210312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D14B4B"/>
                </a:solidFill>
                <a:latin typeface="Calibri"/>
              </a:rPr>
              <a:t>€10B+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06324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annual EU compliance</a:t>
            </a:r>
          </a:p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risk by 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39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39" y="1828800"/>
            <a:ext cx="2606040" cy="1371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79" y="210312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 i="0">
                <a:solidFill>
                  <a:srgbClr val="0F6E56"/>
                </a:solidFill>
                <a:latin typeface="Calibri"/>
              </a:rPr>
              <a:t>&lt;10%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306324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have real-time</a:t>
            </a:r>
          </a:p>
          <a:p>
            <a:pPr algn="ctr"/>
            <a:r>
              <a:rPr sz="1200" b="0" i="0">
                <a:solidFill>
                  <a:srgbClr val="2C2C2A"/>
                </a:solidFill>
                <a:latin typeface="Calibri"/>
              </a:rPr>
              <a:t>energy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2C2C2A"/>
                </a:solidFill>
                <a:latin typeface="Calibri"/>
              </a:rPr>
              <a:t>Meanwhile, EU regulation is tightening faster than property managers can adapt: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974336"/>
            <a:ext cx="164592" cy="16459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937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CRREM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37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Every commercial building must decarbonize by 2030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248656"/>
            <a:ext cx="164592" cy="16459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EnEfG (Germany)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212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Mandatory energy audits for buildings &gt;7.5 GWh/year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522976"/>
            <a:ext cx="164592" cy="16459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5486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EU CSRD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4864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Sustainability reporting required for all large enterprises (2024+)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797296"/>
            <a:ext cx="164592" cy="164592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0" y="57607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EU 2023/1670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7607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Battery passports mandatory for new installations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Microsoft Fabric-native energy intelligence for European CRE.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1188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Portfolio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Real-time KPIs across 1 to 1,000+ buildings, EUI benchmark, scorecard with traffic-light coloring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61188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17720" y="2194560"/>
            <a:ext cx="411480" cy="4114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2860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EU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Live CRREM, EnEfG, GEG, EPC scoring per building. CSRD-ready ESG reports.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9" y="1828800"/>
            <a:ext cx="361188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66759" y="2194560"/>
            <a:ext cx="411480" cy="4114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88036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Catches energy waste in real time. Estimates € cost. Triages like incident tickets.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114800"/>
            <a:ext cx="361188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4480560"/>
            <a:ext cx="411480" cy="4114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80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HVAC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6636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Heat pump COP, gas boiler efficiency, envelope retrofit prioritization by ROI.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4114800"/>
            <a:ext cx="361188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617720" y="4480560"/>
            <a:ext cx="411480" cy="4114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45720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480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Battery Dispatch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16636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EU 2023/1670 compliant simulation. NPV/IRR for self-consumption, peak-shaving, TOU.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59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59" y="4114800"/>
            <a:ext cx="3611880" cy="914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66759" y="4480560"/>
            <a:ext cx="411480" cy="4114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45720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39" y="4480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0F6E56"/>
                </a:solidFill>
                <a:latin typeface="Calibri"/>
              </a:rPr>
              <a:t>IoT Real-Time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59" y="516636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BACnet, Modbus, MQTT, OPC-UA adapters. Sub-minute alerts (Tier 2-3).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Market &amp;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Five forces converging in 2026 — the market is ripe.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029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MARKET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68880"/>
            <a:ext cx="4572000" cy="914400"/>
          </a:xfrm>
          <a:prstGeom prst="rect">
            <a:avLst/>
          </a:prstGeom>
          <a:solidFill>
            <a:srgbClr val="C0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TAM — EU commercial buildings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0F6E56"/>
                </a:solidFill>
                <a:latin typeface="Calibri"/>
              </a:rPr>
              <a:t>€18B /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3611880"/>
            <a:ext cx="3657600" cy="82296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703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SAM — DACH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0233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0F6E56"/>
                </a:solidFill>
                <a:latin typeface="Calibri"/>
              </a:rPr>
              <a:t>€4.3B /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4617720"/>
            <a:ext cx="2743200" cy="7772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65960" y="4709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SOM — 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5029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€1-2M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2C2C2A"/>
                </a:solidFill>
                <a:latin typeface="Calibri"/>
              </a:rPr>
              <a:t>5M commercial buildings · ~€300/mo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73736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192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WHY NOW — 5 FORCES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542032"/>
            <a:ext cx="274320" cy="2743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6060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4688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REGULATORY URGENCY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43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CRREM 2030 binding · CSRD active · EnEfG audits required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227832"/>
            <a:ext cx="274320" cy="2743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32918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546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ENERGY CRISIS LEGACY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Post-2022 made energy a board-level priority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3913632"/>
            <a:ext cx="274320" cy="2743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39776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MICROSOFT FABRIC 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114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Released 2023, enterprise-mature in 2026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4599432"/>
            <a:ext cx="274320" cy="2743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46634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5262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IoT COST COLLAPSE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006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BACnet sensors €50-200 (was €500+ five years ago)</a:t>
            </a:r>
          </a:p>
        </p:txBody>
      </p:sp>
      <p:sp>
        <p:nvSpPr>
          <p:cNvPr id="36" name="Oval 35"/>
          <p:cNvSpPr/>
          <p:nvPr/>
        </p:nvSpPr>
        <p:spPr>
          <a:xfrm>
            <a:off x="6217920" y="5285232"/>
            <a:ext cx="274320" cy="2743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3492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212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AI COMMODIFICATION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486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Azure OpenAI enables natural language insights at SaaS prices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Product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100% Microsoft cloud stack — Fabric, Power BI, Azure.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0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0136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Power BI Reports (9 pages)  ·  Next.js Web App (live)  ·  AI Copilot (live, LLM tool use)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822960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SEMANTIC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68296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Power BI Semantic Model (DirectLake)  ·  50+ DAX measures  ·  RLS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71216"/>
            <a:ext cx="8229600" cy="502920"/>
          </a:xfrm>
          <a:prstGeom prst="rect">
            <a:avLst/>
          </a:prstGeom>
          <a:solidFill>
            <a:srgbClr val="5DCAA5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3522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ANALYTICS &amp;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35224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PySpark Notebooks  ·  KQL Eventhouse  ·  Azure OpenAI  ·  ML forecasting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38144"/>
            <a:ext cx="8229600" cy="502920"/>
          </a:xfrm>
          <a:prstGeom prst="rect">
            <a:avLst/>
          </a:prstGeom>
          <a:solidFill>
            <a:srgbClr val="C0DD97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021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GOLD (Analytics)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0215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gold_kpi_daily · gold_anomaly_log · gold_crrem_pathway · gold_compliance ·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822960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SILVER (Cleaned)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6908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silver_energy_clean · silver_iot_normalized · silver_building_master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8229600" cy="502920"/>
          </a:xfrm>
          <a:prstGeom prst="rect">
            <a:avLst/>
          </a:prstGeom>
          <a:solidFill>
            <a:srgbClr val="FAFAF7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6360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BRONZE (Raw)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63600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Watermark-tracked incremental loads · Fabric Data Factory + Eventstream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38928"/>
            <a:ext cx="8229600" cy="502920"/>
          </a:xfrm>
          <a:prstGeom prst="rect">
            <a:avLst/>
          </a:prstGeom>
          <a:solidFill>
            <a:srgbClr val="2C2C2A"/>
          </a:solidFill>
          <a:ln w="12700">
            <a:solidFill>
              <a:srgbClr val="2C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0293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202936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BACnet · Modbus · MQTT · OPC-UA · Smart Meters · Weather · EPEX Spot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737360"/>
            <a:ext cx="2468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187451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MVP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286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D9E75"/>
                </a:solidFill>
                <a:latin typeface="Calibri"/>
              </a:rPr>
              <a:t>693K+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51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data points</a:t>
            </a:r>
          </a:p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ingested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971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D9E75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3375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dashboard pages</a:t>
            </a:r>
          </a:p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657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D9E75"/>
                </a:solidFill>
                <a:latin typeface="Calibri"/>
              </a:rPr>
              <a:t>50+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DAX measures</a:t>
            </a:r>
          </a:p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built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343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D9E75"/>
                </a:solidFill>
                <a:latin typeface="Calibri"/>
              </a:rP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09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Lakehouse tables</a:t>
            </a:r>
          </a:p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029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1D9E75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394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representative</a:t>
            </a:r>
          </a:p>
          <a:p>
            <a:pPr algn="ctr"/>
            <a:r>
              <a:rPr sz="900" b="0" i="0">
                <a:solidFill>
                  <a:srgbClr val="2C2C2A"/>
                </a:solidFill>
                <a:latin typeface="Calibri"/>
              </a:rPr>
              <a:t>buildings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SaaS subscription per building per month. Mid-market accessible.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611880" cy="420624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2C2C2A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200" b="1" i="0">
                <a:solidFill>
                  <a:srgbClr val="2C2C2A"/>
                </a:solidFill>
                <a:latin typeface="Calibri"/>
              </a:rPr>
              <a:t>€99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/building/month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2C2C2A"/>
                </a:solidFill>
                <a:latin typeface="Calibri"/>
              </a:rPr>
              <a:t>SME offices</a:t>
            </a:r>
          </a:p>
          <a:p>
            <a:r>
              <a:rPr sz="1100" b="0" i="1">
                <a:solidFill>
                  <a:srgbClr val="2C2C2A"/>
                </a:solidFill>
                <a:latin typeface="Calibri"/>
              </a:rPr>
              <a:t>&lt;5,000 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251960"/>
            <a:ext cx="3108960" cy="27432"/>
          </a:xfrm>
          <a:prstGeom prst="rect">
            <a:avLst/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✓ Monthly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7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✓ Basic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✓ Email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5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✓ CSV exports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91640"/>
            <a:ext cx="3611880" cy="42062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417320"/>
            <a:ext cx="3611880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4173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RECOMMENDED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920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688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Calibri"/>
              </a:rPr>
              <a:t>€299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108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/building/month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FFFFFF"/>
                </a:solidFill>
                <a:latin typeface="Calibri"/>
              </a:rPr>
              <a:t>Mid-market property mgmt</a:t>
            </a:r>
          </a:p>
          <a:p>
            <a:r>
              <a:rPr sz="1100" b="0" i="1">
                <a:solidFill>
                  <a:srgbClr val="FFFFFF"/>
                </a:solidFill>
                <a:latin typeface="Calibri"/>
              </a:rPr>
              <a:t>5,000-15,000 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251960"/>
            <a:ext cx="3108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434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All Insight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5487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Real-time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74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Weekly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39495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IoT integration (Phase 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59" y="1691640"/>
            <a:ext cx="3611880" cy="42062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Calibri"/>
              </a:rPr>
              <a:t>€699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089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/building/month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FFFFFF"/>
                </a:solidFill>
                <a:latin typeface="Calibri"/>
              </a:rPr>
              <a:t>Enterprise, healthcare, hotels</a:t>
            </a:r>
          </a:p>
          <a:p>
            <a:r>
              <a:rPr sz="1100" b="0" i="1">
                <a:solidFill>
                  <a:srgbClr val="FFFFFF"/>
                </a:solidFill>
                <a:latin typeface="Calibri"/>
              </a:rPr>
              <a:t>&gt;15,000 m² + IoT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251960"/>
            <a:ext cx="31089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All Monitor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7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AI recommendations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074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ML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394959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✓ Expert routing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19" y="60807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DCAA5"/>
                </a:solidFill>
                <a:latin typeface="Calibri"/>
              </a:rPr>
              <a:t>Avg buildings/customer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19" y="62636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60807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DCAA5"/>
                </a:solidFill>
                <a:latin typeface="Calibri"/>
              </a:rPr>
              <a:t>Annual revenue/customer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44368" y="62636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€17,940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7216" y="60807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DCAA5"/>
                </a:solidFill>
                <a:latin typeface="Calibri"/>
              </a:rPr>
              <a:t>Gross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6" y="62636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0064" y="60807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DCAA5"/>
                </a:solidFill>
                <a:latin typeface="Calibri"/>
              </a:rPr>
              <a:t>Payback period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62636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2-4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2911" y="60807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5DCAA5"/>
                </a:solidFill>
                <a:latin typeface="Calibri"/>
              </a:rPr>
              <a:t>LTV / CAC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1" y="62636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36-108x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Proven category. Underserved EU mid-market = our opening.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1247120" cy="4572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783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83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7830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1783080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EU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19" y="225856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Measurabl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5856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$200M+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US enterprise CRE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25856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$5k+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258568"/>
            <a:ext cx="23774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Mid-market 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1124712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" y="276148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Aquicore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76148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$40M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6148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US offices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76148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$2k+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761488"/>
            <a:ext cx="23774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EU regulation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0040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19" y="326440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Cortexa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26440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$30M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26440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EU 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26440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€3k+ 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3264408"/>
            <a:ext cx="23774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Mid-market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03320"/>
            <a:ext cx="1124712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19" y="376732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BuildingIQ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76732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Public ASX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7673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Enterprise BMS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376732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Custom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19" y="3767328"/>
            <a:ext cx="23774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Fabric-native SaaS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20624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42702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C2C2A"/>
                </a:solidFill>
                <a:latin typeface="Calibri"/>
              </a:rPr>
              <a:t>Honeywell Forge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27024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Internal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27024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Enterprise division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427024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€50k+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19" y="4270248"/>
            <a:ext cx="23774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Standalone product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709160"/>
            <a:ext cx="112471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19" y="477316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EnergyLens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77316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Bootstrap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7731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EU mid-market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19" y="477316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€99-699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4773168"/>
            <a:ext cx="23774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✓ FILLS THE GAP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0F6E56"/>
                </a:solidFill>
                <a:latin typeface="Calibri"/>
              </a:rPr>
              <a:t>Our 4 differentiators: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760720"/>
            <a:ext cx="2743200" cy="41148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19" y="58064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C2C2A"/>
                </a:solidFill>
                <a:latin typeface="Calibri"/>
              </a:rPr>
              <a:t>Microsoft Fabric-native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5760720"/>
            <a:ext cx="2743200" cy="41148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66160" y="58064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C2C2A"/>
                </a:solidFill>
                <a:latin typeface="Calibri"/>
              </a:rPr>
              <a:t>EU regulatory depth (CRREM, EnEfG, EU 2023/1670)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5760720"/>
            <a:ext cx="2743200" cy="41148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58064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C2C2A"/>
                </a:solidFill>
                <a:latin typeface="Calibri"/>
              </a:rPr>
              <a:t>Mid-market pricing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5760720"/>
            <a:ext cx="2743200" cy="411480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35440" y="58064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C2C2A"/>
                </a:solidFill>
                <a:latin typeface="Calibri"/>
              </a:rPr>
              <a:t>Berlin/DACH presence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Traction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MVP complete. First pilots in motion. Clear path to €1M ARR.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DONE (May 2026)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77439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77439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9-page Power BI dashboard MVP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752344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75234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662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Microsoft Fabric medallion architecture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27247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127247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81527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Sample data: 6 buildings, 3.5 years, 693K+ points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502151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502151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5643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DAX measure library (v52, 50+ measures)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877055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877055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31335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Domain energylens.eu registered + 3 parallel Fabric data paths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251959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251959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06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Battery dispatch simulator (EU 2023/1670)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626864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62686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5811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CRREM pathway integration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5001768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50017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9560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Anomaly detection engine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5376672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" y="537667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33095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AI Copilot live (LLM tool use, 6 tools, SSE streaming)</a:t>
            </a:r>
          </a:p>
        </p:txBody>
      </p:sp>
      <p:sp>
        <p:nvSpPr>
          <p:cNvPr id="35" name="Oval 34"/>
          <p:cNvSpPr/>
          <p:nvPr/>
        </p:nvSpPr>
        <p:spPr>
          <a:xfrm>
            <a:off x="868680" y="5751576"/>
            <a:ext cx="182880" cy="1828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" y="575157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70585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Web app v1 live (Next.js + FastAPI + Postgres, 3 auth providers)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73736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187451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ROADMAP (2026-2028)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377439"/>
            <a:ext cx="914400" cy="3200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2377439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Jun '26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23317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M.Sc. graduation, full-time on EnergyLens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834639"/>
            <a:ext cx="914400" cy="3200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2834639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Jul '26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27889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Microsoft Startups Tier 2 approved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3291839"/>
            <a:ext cx="914400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291839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Sep '26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2461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First paying pilot customer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749039"/>
            <a:ext cx="914400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3749039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Oct '26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7033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UG mini-GmbH registered (Berlin)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206240"/>
            <a:ext cx="914400" cy="3200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0" y="42062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 '26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41605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3-5 customers · €500-2k MRR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663440"/>
            <a:ext cx="914400" cy="3200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46634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Mar '27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46177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Tier 3 upgrade ($150k Azure credit)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5120640"/>
            <a:ext cx="914400" cy="3200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0" y="51206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Jun '27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0749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15-20 customers · €10k+ MRR · first hire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5577840"/>
            <a:ext cx="914400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0" y="5577840"/>
            <a:ext cx="8686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May '28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553212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50-100 customers · €25-50k MRR · DACH leader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2C2C2A"/>
                </a:solidFill>
                <a:latin typeface="Calibri"/>
              </a:rPr>
              <a:t>Team &amp; 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0F6E56"/>
                </a:solidFill>
                <a:latin typeface="Calibri"/>
              </a:rPr>
              <a:t>Solo founder with rare combination: domain + Microsoft Fabric mastery.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468880" y="2011680"/>
            <a:ext cx="1371600" cy="13716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80" y="2423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0F6E56"/>
                </a:solidFill>
                <a:latin typeface="Calibri"/>
              </a:rPr>
              <a:t>Ali Mert Özdemir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2C2C2A"/>
                </a:solidFill>
                <a:latin typeface="Calibri"/>
              </a:rPr>
              <a:t>Founder &amp;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2C2C2A"/>
                </a:solidFill>
                <a:latin typeface="Calibri"/>
              </a:rPr>
              <a:t>• Energy Engineering B.Sc. (Yaşar Univ, Turkey)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7375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2C2C2A"/>
                </a:solidFill>
                <a:latin typeface="Calibri"/>
              </a:rPr>
              <a:t>• Energy Management M.Sc. (BSBI Berlin) — Jun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9783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2C2C2A"/>
                </a:solidFill>
                <a:latin typeface="Calibri"/>
              </a:rPr>
              <a:t>• Microsoft DP-600 certified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85816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2C2C2A"/>
                </a:solidFill>
                <a:latin typeface="Calibri"/>
              </a:rPr>
              <a:t>• 1+ year engineering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418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2C2C2A"/>
                </a:solidFill>
                <a:latin typeface="Calibri"/>
              </a:rPr>
              <a:t>• Prior entrepreneurial ventures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2C2C2A"/>
                </a:solidFill>
                <a:latin typeface="Calibri"/>
              </a:rPr>
              <a:t>• Berlin-based · 18-month visa runway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3736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874519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WHY THIS FOUNDER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2404872"/>
            <a:ext cx="201168" cy="201168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Domain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6+ years energy engineering + management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2788920"/>
            <a:ext cx="201168" cy="201168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715768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Tech stack mastery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DP-600 certified, full-stack Fabric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3172968"/>
            <a:ext cx="201168" cy="201168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099815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EU market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82696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Berlin-based, DACH regulation native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557015"/>
            <a:ext cx="201168" cy="201168"/>
          </a:xfrm>
          <a:prstGeom prst="ellipse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483863"/>
            <a:ext cx="4846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0F6E56"/>
                </a:solidFill>
                <a:latin typeface="Calibri"/>
              </a:rPr>
              <a:t>Execution capability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66744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2C2C2A"/>
                </a:solidFill>
                <a:latin typeface="Calibri"/>
              </a:rPr>
              <a:t>Shipped MVP + web app + AI Copilot solo (~5 weeks, May 2026)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11480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42519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0F6E56"/>
                </a:solidFill>
                <a:latin typeface="Calibri"/>
              </a:rPr>
              <a:t>TEAM ROADMAP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754880"/>
            <a:ext cx="868680" cy="2743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548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7091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Junior full-stack developer (post €5k MRR)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138928"/>
            <a:ext cx="868680" cy="2743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1389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Q3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509320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Sales / BD (post €10k MRR)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522976"/>
            <a:ext cx="868680" cy="2743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55229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Q4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47725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Customer success (15+ customers)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907024"/>
            <a:ext cx="868680" cy="27432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09360" y="59070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 2028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861304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2C2C2A"/>
                </a:solidFill>
                <a:latin typeface="Calibri"/>
              </a:rPr>
              <a:t>Senior data engineer + co-founder evaluation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2C2C2A"/>
                </a:solidFill>
                <a:latin typeface="Calibri"/>
              </a:rPr>
              <a:t>EnergyLens · Microsoft for Startups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2C2C2A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D9E75"/>
                </a:solidFill>
                <a:latin typeface="Calibri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 i="1">
                <a:solidFill>
                  <a:srgbClr val="F1EFE8"/>
                </a:solidFill>
                <a:latin typeface="Calibri"/>
              </a:rPr>
              <a:t>Microsoft for Startups Tier 2 acceptance.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5DCAA5"/>
                </a:solidFill>
                <a:latin typeface="Calibri"/>
              </a:rPr>
              <a:t>What we need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56432"/>
            <a:ext cx="228600" cy="2286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45643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$5k–25k Azure credits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DCAA5"/>
                </a:solidFill>
                <a:latin typeface="Calibri"/>
              </a:rPr>
              <a:t>Scale Fabric capacity + web app infrastructure (12 months)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05072"/>
            <a:ext cx="228600" cy="2286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00507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Power BI Premium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DCAA5"/>
                </a:solidFill>
                <a:latin typeface="Calibri"/>
              </a:rPr>
              <a:t>Enable embedded analytics in customer-facing SaaS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53712"/>
            <a:ext cx="228600" cy="2286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Microsoft Fabric F8+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DCAA5"/>
                </a:solidFill>
                <a:latin typeface="Calibri"/>
              </a:rPr>
              <a:t>Unblock production pipeline (F4 trial throttle, especially on IoT page)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102352"/>
            <a:ext cx="228600" cy="2286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10235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Microsoft Partner Network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DCAA5"/>
                </a:solidFill>
                <a:latin typeface="Calibri"/>
              </a:rPr>
              <a:t>Co-selling + Azure OpenAI credits to flip live Copilot from Mock to production GPT-4o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6459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ESTIMATED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05740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C0DD97"/>
                </a:solidFill>
                <a:latin typeface="Calibri"/>
              </a:rPr>
              <a:t>$40-60K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9718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F1EFE8"/>
                </a:solidFill>
                <a:latin typeface="Calibri"/>
              </a:rPr>
              <a:t>in 12-month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200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F1EFE8"/>
                </a:solidFill>
                <a:latin typeface="Calibri"/>
              </a:rPr>
              <a:t>infrastructure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840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PATH FORWARD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160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0DD97"/>
                </a:solidFill>
                <a:latin typeface="Calibri"/>
              </a:rPr>
              <a:t>→ Tier 2 in 3-14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4531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0DD97"/>
                </a:solidFill>
                <a:latin typeface="Calibri"/>
              </a:rPr>
              <a:t>→ Pilot launch Q3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457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0DD97"/>
                </a:solidFill>
                <a:latin typeface="Calibri"/>
              </a:rPr>
              <a:t>→ Tier 3 in 6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503834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0DD97"/>
                </a:solidFill>
                <a:latin typeface="Calibri"/>
              </a:rPr>
              <a:t>→ Microsoft Partner 2027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52160"/>
            <a:ext cx="7772400" cy="8229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Ali Mert Özdemir · Founder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263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1EFE8"/>
                </a:solidFill>
                <a:latin typeface="Calibri"/>
              </a:rPr>
              <a:t>alimertozdem@gmail.com  ·  linkedin.com/in/alimertozdemir96  ·  energylens.eu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EFE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1334</Words>
  <Application>Microsoft Office PowerPoint</Application>
  <PresentationFormat>Geniş ekran</PresentationFormat>
  <Paragraphs>302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 mert özdemir</dc:creator>
  <cp:keywords/>
  <dc:description>generated using python-pptx</dc:description>
  <cp:lastModifiedBy>ali mert özdemir</cp:lastModifiedBy>
  <cp:revision>2</cp:revision>
  <dcterms:created xsi:type="dcterms:W3CDTF">2013-01-27T09:14:16Z</dcterms:created>
  <dcterms:modified xsi:type="dcterms:W3CDTF">2026-05-29T09:28:16Z</dcterms:modified>
  <cp:category/>
</cp:coreProperties>
</file>
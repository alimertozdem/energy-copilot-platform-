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229600" y="0"/>
            <a:ext cx="4572000" cy="6858000"/>
          </a:xfrm>
          <a:prstGeom prst="rtTriangle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640080"/>
            <a:ext cx="822960" cy="82296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77724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0" b="1" i="0">
                <a:solidFill>
                  <a:srgbClr val="1D9E75"/>
                </a:solidFill>
                <a:latin typeface="Calibri"/>
              </a:rPr>
              <a:t>EnergyLens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 i="1">
                <a:solidFill>
                  <a:srgbClr val="F1EFE8"/>
                </a:solidFill>
                <a:latin typeface="Calibri"/>
              </a:rPr>
              <a:t>Smart energy for smart buildings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5DCAA5"/>
                </a:solidFill>
                <a:latin typeface="Calibri"/>
              </a:rPr>
              <a:t>Microsoft Fabric-native energy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5DCAA5"/>
                </a:solidFill>
                <a:latin typeface="Calibri"/>
              </a:rPr>
              <a:t>for European commercial real estate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1EFE8"/>
                </a:solidFill>
                <a:latin typeface="Calibri"/>
              </a:rPr>
              <a:t>Ali Mert Özdemir · Founder · Berlin · alimertozdem@gmail.com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European commercial buildings are blind to their own energy.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606040" cy="13716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19" y="210312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1D9E75"/>
                </a:solidFill>
                <a:latin typeface="Calibri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0632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of EU energy</a:t>
            </a:r>
          </a:p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consumed by buildings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82880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2606040" cy="137160"/>
          </a:xfrm>
          <a:prstGeom prst="rect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10312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639922"/>
                </a:solidFill>
                <a:latin typeface="Calibri"/>
              </a:rPr>
              <a:t>36%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0632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of EU CO₂ emissions</a:t>
            </a:r>
          </a:p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from buildings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828800"/>
            <a:ext cx="2606040" cy="137160"/>
          </a:xfrm>
          <a:prstGeom prst="rect">
            <a:avLst/>
          </a:prstGeom>
          <a:solidFill>
            <a:srgbClr val="D14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210312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D14B4B"/>
                </a:solidFill>
                <a:latin typeface="Calibri"/>
              </a:rPr>
              <a:t>€10B+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30632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annual EU compliance</a:t>
            </a:r>
          </a:p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risk by 2030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39" y="182880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39" y="1828800"/>
            <a:ext cx="2606040" cy="13716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79" y="210312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0F6E56"/>
                </a:solidFill>
                <a:latin typeface="Calibri"/>
              </a:rPr>
              <a:t>&lt;10%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79" y="30632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have real-time</a:t>
            </a:r>
          </a:p>
          <a:p>
            <a:pPr algn="ctr"/>
            <a:r>
              <a:rPr sz="1200" b="0" i="0">
                <a:solidFill>
                  <a:srgbClr val="2C2C2A"/>
                </a:solidFill>
                <a:latin typeface="Calibri"/>
              </a:rPr>
              <a:t>energy monitoring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97680"/>
            <a:ext cx="10972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8056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2C2C2A"/>
                </a:solidFill>
                <a:latin typeface="Calibri"/>
              </a:rPr>
              <a:t>Meanwhile, EU regulation is tightening faster than property managers can adapt: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974336"/>
            <a:ext cx="164592" cy="164592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937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CRREM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937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Every commercial building must decarbonize by 2030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" y="5248656"/>
            <a:ext cx="164592" cy="164592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120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EnEfG (Germany)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52120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Mandatory energy audits for buildings &gt;7.5 GWh/year</a:t>
            </a:r>
          </a:p>
        </p:txBody>
      </p:sp>
      <p:sp>
        <p:nvSpPr>
          <p:cNvPr id="30" name="Oval 29"/>
          <p:cNvSpPr/>
          <p:nvPr/>
        </p:nvSpPr>
        <p:spPr>
          <a:xfrm>
            <a:off x="914400" y="5522976"/>
            <a:ext cx="164592" cy="164592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4864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EU CSRD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54864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Sustainability reporting required for all large enterprises (2024+)</a:t>
            </a:r>
          </a:p>
        </p:txBody>
      </p:sp>
      <p:sp>
        <p:nvSpPr>
          <p:cNvPr id="33" name="Oval 32"/>
          <p:cNvSpPr/>
          <p:nvPr/>
        </p:nvSpPr>
        <p:spPr>
          <a:xfrm>
            <a:off x="914400" y="5797296"/>
            <a:ext cx="164592" cy="164592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5760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EU 2023/1670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760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Battery passports mandatory for new installations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Microsoft Fabric-native energy intelligence for European CRE.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194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Portfolio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Real-time KPIs across 1 to 1,000+ buildings, EUI benchmark, scorecard with traffic-light coloring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828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2194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286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EU Compliance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880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Live CRREM, EnEfG, GEG, EPC scoring per building. CSRD-ready ESG reports.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59" y="1828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1828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66759" y="2194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286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39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Anomaly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2880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Catches energy waste in real time. Estimates € cost. Triages like incident tickets.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114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114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" y="4480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572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HVAC Optimization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166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Heat pump COP, gas boiler efficiency, envelope retrofit prioritization by ROI.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114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4114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17720" y="4480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4572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Battery Dispatch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5166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EU 2023/1670 compliant simulation. NPV/IRR for self-consumption, peak-shaving, TOU.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59" y="4114800"/>
            <a:ext cx="36118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38159" y="4114800"/>
            <a:ext cx="3611880" cy="914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66759" y="4480560"/>
            <a:ext cx="411480" cy="4114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4572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39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F6E56"/>
                </a:solidFill>
                <a:latin typeface="Calibri"/>
              </a:rPr>
              <a:t>IoT Real-Time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59" y="51663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BACnet, Modbus, MQTT, OPC-UA adapters. Sub-minute alerts (Tier 2-3).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Market &amp;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Five forces converging in 2026 — the market is ripe.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MARKET SIZE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68880"/>
            <a:ext cx="4572000" cy="914400"/>
          </a:xfrm>
          <a:prstGeom prst="rect">
            <a:avLst/>
          </a:prstGeom>
          <a:solidFill>
            <a:srgbClr val="C0DD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TAM — EU commercial buildings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7180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0F6E56"/>
                </a:solidFill>
                <a:latin typeface="Calibri"/>
              </a:rPr>
              <a:t>€18B /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3611880"/>
            <a:ext cx="3657600" cy="82296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703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SAM — DACH focus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0233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0F6E56"/>
                </a:solidFill>
                <a:latin typeface="Calibri"/>
              </a:rPr>
              <a:t>€4.3B / year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4617720"/>
            <a:ext cx="2743200" cy="7772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47091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SOM — Year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02920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€1-2M ARR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235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1">
                <a:solidFill>
                  <a:srgbClr val="2C2C2A"/>
                </a:solidFill>
                <a:latin typeface="Calibri"/>
              </a:rPr>
              <a:t>5M commercial buildings · ~€300/mo each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737360"/>
            <a:ext cx="5669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WHY NOW — 5 FORCES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2542032"/>
            <a:ext cx="274320" cy="27432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6060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4688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REGULATORY URGENCY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CRREM 2030 binding · CSRD active · EnEfG audits required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3227832"/>
            <a:ext cx="274320" cy="27432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2918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1546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ENERGY CRISIS LEGACY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429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Post-2022 made energy a board-level priority</a:t>
            </a:r>
          </a:p>
        </p:txBody>
      </p:sp>
      <p:sp>
        <p:nvSpPr>
          <p:cNvPr id="28" name="Oval 27"/>
          <p:cNvSpPr/>
          <p:nvPr/>
        </p:nvSpPr>
        <p:spPr>
          <a:xfrm>
            <a:off x="6217920" y="3913632"/>
            <a:ext cx="274320" cy="27432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9776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8404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MICROSOFT FABRIC 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1148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Released 2023, enterprise-mature in 2026</a:t>
            </a:r>
          </a:p>
        </p:txBody>
      </p:sp>
      <p:sp>
        <p:nvSpPr>
          <p:cNvPr id="32" name="Oval 31"/>
          <p:cNvSpPr/>
          <p:nvPr/>
        </p:nvSpPr>
        <p:spPr>
          <a:xfrm>
            <a:off x="6217920" y="4599432"/>
            <a:ext cx="274320" cy="27432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6634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4526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IoT COST COLLAPSE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800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BACnet sensors €50-200 (was €500+ five years ago)</a:t>
            </a:r>
          </a:p>
        </p:txBody>
      </p:sp>
      <p:sp>
        <p:nvSpPr>
          <p:cNvPr id="36" name="Oval 35"/>
          <p:cNvSpPr/>
          <p:nvPr/>
        </p:nvSpPr>
        <p:spPr>
          <a:xfrm>
            <a:off x="6217920" y="5285232"/>
            <a:ext cx="274320" cy="27432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3492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52120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AI COMMODIFICATION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Azure OpenAI enables natural language insights at SaaS prices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Product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100% Microsoft cloud stack — Fabric, Power BI, Azure.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822960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0136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0136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Power BI Reports (9 pages)  ·  Next.js Web App  ·  Microsoft Teams alerts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04288"/>
            <a:ext cx="8229600" cy="502920"/>
          </a:xfrm>
          <a:prstGeom prst="rect">
            <a:avLst/>
          </a:prstGeom>
          <a:solidFill>
            <a:srgbClr val="0F6E56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682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SEMANTIC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68296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Power BI Semantic Model (DirectLake)  ·  50+ DAX measures  ·  RLS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871216"/>
            <a:ext cx="8229600" cy="502920"/>
          </a:xfrm>
          <a:prstGeom prst="rect">
            <a:avLst/>
          </a:prstGeom>
          <a:solidFill>
            <a:srgbClr val="5DCAA5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ANALYTICS &amp;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3522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PySpark Notebooks  ·  KQL Eventhouse  ·  Azure OpenAI  ·  ML forecasting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38144"/>
            <a:ext cx="8229600" cy="502920"/>
          </a:xfrm>
          <a:prstGeom prst="rect">
            <a:avLst/>
          </a:prstGeom>
          <a:solidFill>
            <a:srgbClr val="C0DD97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021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GOLD (Analytics)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50215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gold_kpi_daily · gold_anomaly_log · gold_crrem_pathway · gold_compliance · 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8229600" cy="502920"/>
          </a:xfrm>
          <a:prstGeom prst="rect">
            <a:avLst/>
          </a:prstGeom>
          <a:solidFill>
            <a:srgbClr val="F1EFE8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69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SILVER (Cleaned)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6908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silver_energy_clean · silver_iot_normalized · silver_building_master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72000"/>
            <a:ext cx="8229600" cy="502920"/>
          </a:xfrm>
          <a:prstGeom prst="rect">
            <a:avLst/>
          </a:prstGeom>
          <a:solidFill>
            <a:srgbClr val="FAFAF7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360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BRONZE (Raw)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63600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Watermark-tracked incremental loads · Fabric Data Factory + Eventstream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138928"/>
            <a:ext cx="8229600" cy="502920"/>
          </a:xfrm>
          <a:prstGeom prst="rect">
            <a:avLst/>
          </a:prstGeom>
          <a:solidFill>
            <a:srgbClr val="2C2C2A"/>
          </a:solidFill>
          <a:ln w="12700">
            <a:solidFill>
              <a:srgbClr val="2C2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202936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BACnet · Modbus · MQTT · OPC-UA · Smart Meters · Weather · EPEX Spot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1737360"/>
            <a:ext cx="24688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87451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MVP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286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D9E75"/>
                </a:solidFill>
                <a:latin typeface="Calibri"/>
              </a:rPr>
              <a:t>693K+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2651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data points</a:t>
            </a:r>
          </a:p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ingested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D9E75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3375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dashboard pages</a:t>
            </a:r>
          </a:p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576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D9E75"/>
                </a:solidFill>
                <a:latin typeface="Calibri"/>
              </a:rPr>
              <a:t>50+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4023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DAX measures</a:t>
            </a:r>
          </a:p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built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43434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D9E75"/>
                </a:solidFill>
                <a:latin typeface="Calibri"/>
              </a:rPr>
              <a:t>25+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709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Lakehouse tables</a:t>
            </a:r>
          </a:p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029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1D9E75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5394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representative</a:t>
            </a:r>
          </a:p>
          <a:p>
            <a:pPr algn="ctr"/>
            <a:r>
              <a:rPr sz="900" b="0" i="0">
                <a:solidFill>
                  <a:srgbClr val="2C2C2A"/>
                </a:solidFill>
                <a:latin typeface="Calibri"/>
              </a:rPr>
              <a:t>buildings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SaaS subscription per building per month. Mid-market accessible.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611880" cy="420624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2C2C2A"/>
                </a:solidFill>
                <a:latin typeface="Calibri"/>
              </a:rPr>
              <a:t>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 i="0">
                <a:solidFill>
                  <a:srgbClr val="2C2C2A"/>
                </a:solidFill>
                <a:latin typeface="Calibri"/>
              </a:rPr>
              <a:t>€99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/building/month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>
                <a:solidFill>
                  <a:srgbClr val="2C2C2A"/>
                </a:solidFill>
                <a:latin typeface="Calibri"/>
              </a:rPr>
              <a:t>SME offices</a:t>
            </a:r>
          </a:p>
          <a:p>
            <a:r>
              <a:rPr sz="1100" b="0" i="1">
                <a:solidFill>
                  <a:srgbClr val="2C2C2A"/>
                </a:solidFill>
                <a:latin typeface="Calibri"/>
              </a:rPr>
              <a:t>&lt;5,000 m²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51960"/>
            <a:ext cx="3108960" cy="27432"/>
          </a:xfrm>
          <a:prstGeom prst="rect">
            <a:avLst/>
          </a:prstGeom>
          <a:solidFill>
            <a:srgbClr val="2C2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✓ Monthly KPIs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7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✓ Basic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✓ Email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5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✓ CSV exports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691640"/>
            <a:ext cx="3611880" cy="42062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1417320"/>
            <a:ext cx="3611880" cy="320040"/>
          </a:xfrm>
          <a:prstGeom prst="rect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417320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RECOMMENDED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920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Monitor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4688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libri"/>
              </a:rPr>
              <a:t>€299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1089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/building/month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520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>
                <a:solidFill>
                  <a:srgbClr val="FFFFFF"/>
                </a:solidFill>
                <a:latin typeface="Calibri"/>
              </a:rPr>
              <a:t>Mid-market property mgmt</a:t>
            </a:r>
          </a:p>
          <a:p>
            <a:r>
              <a:rPr sz="1100" b="0" i="1">
                <a:solidFill>
                  <a:srgbClr val="FFFFFF"/>
                </a:solidFill>
                <a:latin typeface="Calibri"/>
              </a:rPr>
              <a:t>5,000-15,000 m²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425196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All Insight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75487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Real-time alerts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074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Weekly 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39495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IoT integration (Phase 2)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59" y="1691640"/>
            <a:ext cx="3611880" cy="420624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1920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libri"/>
              </a:rPr>
              <a:t>Copilot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4688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libri"/>
              </a:rPr>
              <a:t>€699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1089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/building/month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5204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1">
                <a:solidFill>
                  <a:srgbClr val="FFFFFF"/>
                </a:solidFill>
                <a:latin typeface="Calibri"/>
              </a:rPr>
              <a:t>Enterprise, healthcare, hotels</a:t>
            </a:r>
          </a:p>
          <a:p>
            <a:r>
              <a:rPr sz="1100" b="0" i="1">
                <a:solidFill>
                  <a:srgbClr val="FFFFFF"/>
                </a:solidFill>
                <a:latin typeface="Calibri"/>
              </a:rPr>
              <a:t>&gt;15,000 m² + IoT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425196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434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All Monitor features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75487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AI recommendations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0749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ML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394959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Calibri"/>
              </a:rPr>
              <a:t>✓ Expert routing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19" y="60807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DCAA5"/>
                </a:solidFill>
                <a:latin typeface="Calibri"/>
              </a:rPr>
              <a:t>Avg buildings/customer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19" y="626364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60807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DCAA5"/>
                </a:solidFill>
                <a:latin typeface="Calibri"/>
              </a:rPr>
              <a:t>Annual revenue/customer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44368" y="626364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€17,940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57216" y="60807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DCAA5"/>
                </a:solidFill>
                <a:latin typeface="Calibri"/>
              </a:rPr>
              <a:t>Gross margin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57216" y="626364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85%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0064" y="60807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DCAA5"/>
                </a:solidFill>
                <a:latin typeface="Calibri"/>
              </a:rPr>
              <a:t>Payback period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626364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2-4 months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1" y="6080760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DCAA5"/>
                </a:solidFill>
                <a:latin typeface="Calibri"/>
              </a:rPr>
              <a:t>LTV / CAC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1" y="626364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36-108x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Proven category. Underserved EU mid-market = our opening.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1247120" cy="45720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7830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Player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Funding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7830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178308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Pricing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19" y="178308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EU 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19" y="22585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Measurabl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25856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$200M+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5856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US enterprise CRE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19" y="225856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$5k+ entry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225856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Mid-market 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697480"/>
            <a:ext cx="11247120" cy="502920"/>
          </a:xfrm>
          <a:prstGeom prst="rect">
            <a:avLst/>
          </a:prstGeom>
          <a:solidFill>
            <a:srgbClr val="F1EFE8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19" y="276148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Aquicore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76148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$40M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76148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US offices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19" y="276148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$2k+ entry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76148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EU regulation depth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20040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19" y="326440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Cortexa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6440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$30M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326440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EU enterprise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19" y="326440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€3k+ entry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19" y="326440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Mid-market access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03320"/>
            <a:ext cx="11247120" cy="502920"/>
          </a:xfrm>
          <a:prstGeom prst="rect">
            <a:avLst/>
          </a:prstGeom>
          <a:solidFill>
            <a:srgbClr val="F1EFE8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19" y="376732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BuildingIQ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76732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Public ASX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76732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Enterprise BMS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19" y="376732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Custom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19" y="376732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Fabric-native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20624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19" y="427024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2C2C2A"/>
                </a:solidFill>
                <a:latin typeface="Calibri"/>
              </a:rPr>
              <a:t>Honeywell Forge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27024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Internal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27024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Enterprise division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19" y="427024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€50k+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19" y="427024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Standalone product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709160"/>
            <a:ext cx="11247120" cy="502920"/>
          </a:xfrm>
          <a:prstGeom prst="rect">
            <a:avLst/>
          </a:prstGeom>
          <a:solidFill>
            <a:srgbClr val="1D9E75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19" y="47731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EnergyLens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77316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Bootstrap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477316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EU mid-market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19" y="4773168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€99-699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4773168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✓ FILLS THE GAP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F6E56"/>
                </a:solidFill>
                <a:latin typeface="Calibri"/>
              </a:rPr>
              <a:t>Our 4 differentiators: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760720"/>
            <a:ext cx="2743200" cy="41148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19" y="5806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C2C2A"/>
                </a:solidFill>
                <a:latin typeface="Calibri"/>
              </a:rPr>
              <a:t>Microsoft Fabric-native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0" y="5760720"/>
            <a:ext cx="2743200" cy="41148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5806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C2C2A"/>
                </a:solidFill>
                <a:latin typeface="Calibri"/>
              </a:rPr>
              <a:t>EU regulatory depth (CRREM, EnEfG, EU 2023/1670)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5760720"/>
            <a:ext cx="2743200" cy="41148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5806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C2C2A"/>
                </a:solidFill>
                <a:latin typeface="Calibri"/>
              </a:rPr>
              <a:t>Mid-market pricing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5760720"/>
            <a:ext cx="2743200" cy="41148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5806440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C2C2A"/>
                </a:solidFill>
                <a:latin typeface="Calibri"/>
              </a:rPr>
              <a:t>Berlin/DACH presence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Traction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MVP complete. First pilots in motion. Clear path to €1M ARR.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0352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DONE (May 2026)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377439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377439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31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9-page Power BI dashboard MVP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752344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752344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7066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Microsoft Fabric medallion architecture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127247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127247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81527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Sample data: 6 buildings, 3.5 years, 693K+ points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502151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502151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45643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DAX measure library (v52, 50+ measures)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3877055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877055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831335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Brand identity finalized (EnergyLens Emerald Pulse)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251959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251959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20624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Battery dispatch simulator (EU 2023/1670)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" y="4626864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58114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CRREM pathway integration</a:t>
            </a:r>
          </a:p>
        </p:txBody>
      </p:sp>
      <p:sp>
        <p:nvSpPr>
          <p:cNvPr id="29" name="Oval 28"/>
          <p:cNvSpPr/>
          <p:nvPr/>
        </p:nvSpPr>
        <p:spPr>
          <a:xfrm>
            <a:off x="868680" y="5001768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68" y="50017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956048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Anomaly detection engine</a:t>
            </a:r>
          </a:p>
        </p:txBody>
      </p:sp>
      <p:sp>
        <p:nvSpPr>
          <p:cNvPr id="32" name="Oval 31"/>
          <p:cNvSpPr/>
          <p:nvPr/>
        </p:nvSpPr>
        <p:spPr>
          <a:xfrm>
            <a:off x="868680" y="5376672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5376672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330952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IoT adapter framework design</a:t>
            </a:r>
          </a:p>
        </p:txBody>
      </p:sp>
      <p:sp>
        <p:nvSpPr>
          <p:cNvPr id="35" name="Oval 34"/>
          <p:cNvSpPr/>
          <p:nvPr/>
        </p:nvSpPr>
        <p:spPr>
          <a:xfrm>
            <a:off x="868680" y="5751576"/>
            <a:ext cx="182880" cy="1828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75157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5705856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Microsoft DP-600 certification obtained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73736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ROADMAP (2026-2028)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2377439"/>
            <a:ext cx="914400" cy="3200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2377439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Jun '26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M.Sc. graduation, full-time on EnergyLens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2834639"/>
            <a:ext cx="914400" cy="32004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2834639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Jul '26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06640" y="2788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Microsoft Startups Tier 2 approved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55080" y="3291839"/>
            <a:ext cx="914400" cy="320040"/>
          </a:xfrm>
          <a:prstGeom prst="rect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291839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Sep '26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32461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First paying pilot customer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3749039"/>
            <a:ext cx="914400" cy="320040"/>
          </a:xfrm>
          <a:prstGeom prst="rect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749039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Oct '26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37033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UG mini-GmbH registered (Berlin)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4206240"/>
            <a:ext cx="914400" cy="32004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20624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Dec '26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41605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3-5 customers · €500-2k MRR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4663440"/>
            <a:ext cx="914400" cy="32004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0" y="466344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Mar '27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0" y="4617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Tier 3 upgrade ($150k Azure credit)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5120640"/>
            <a:ext cx="914400" cy="32004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12064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Jun '27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5074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15-20 customers · €10k+ MRR · first hire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55080" y="5577840"/>
            <a:ext cx="914400" cy="320040"/>
          </a:xfrm>
          <a:prstGeom prst="rect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5577840"/>
            <a:ext cx="868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May '28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55321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50-100 customers · €25-50k MRR · DACH leader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 i="0">
                <a:solidFill>
                  <a:srgbClr val="2C2C2A"/>
                </a:solidFill>
                <a:latin typeface="Calibri"/>
              </a:rPr>
              <a:t>Team &amp; Founder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1">
                <a:solidFill>
                  <a:srgbClr val="0F6E56"/>
                </a:solidFill>
                <a:latin typeface="Calibri"/>
              </a:rPr>
              <a:t>Solo founder with rare combination: domain + Microsoft Fabric mastery.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0292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68880" y="2011680"/>
            <a:ext cx="1371600" cy="137160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24231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0F6E56"/>
                </a:solidFill>
                <a:latin typeface="Calibri"/>
              </a:rPr>
              <a:t>Ali Mert Özdemir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2C2C2A"/>
                </a:solidFill>
                <a:latin typeface="Calibri"/>
              </a:rPr>
              <a:t>Founder &amp; CEO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Energy Engineering B.Sc. (Yaşar Univ, Turkey)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Energy Management M.Sc. (BSBI Berlin) — 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9783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Microsoft DP-600 certified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8581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1+ year engineering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6418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Prior entrepreneurial ventures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97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2C2C2A"/>
                </a:solidFill>
                <a:latin typeface="Calibri"/>
              </a:rPr>
              <a:t>• Berlin-based · 18-month visa runway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1737360"/>
            <a:ext cx="56692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87451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WHY THIS FOUNDER</a:t>
            </a:r>
          </a:p>
        </p:txBody>
      </p:sp>
      <p:sp>
        <p:nvSpPr>
          <p:cNvPr id="19" name="Oval 18"/>
          <p:cNvSpPr/>
          <p:nvPr/>
        </p:nvSpPr>
        <p:spPr>
          <a:xfrm>
            <a:off x="6263640" y="2404872"/>
            <a:ext cx="201168" cy="201168"/>
          </a:xfrm>
          <a:prstGeom prst="ellipse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331720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Domain depth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514600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6+ years energy engineering + management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788920"/>
            <a:ext cx="201168" cy="201168"/>
          </a:xfrm>
          <a:prstGeom prst="ellipse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715768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Tech stack mastery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8986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DP-600 certified, full-stack Fabric</a:t>
            </a:r>
          </a:p>
        </p:txBody>
      </p:sp>
      <p:sp>
        <p:nvSpPr>
          <p:cNvPr id="25" name="Oval 24"/>
          <p:cNvSpPr/>
          <p:nvPr/>
        </p:nvSpPr>
        <p:spPr>
          <a:xfrm>
            <a:off x="6263640" y="3172968"/>
            <a:ext cx="201168" cy="201168"/>
          </a:xfrm>
          <a:prstGeom prst="ellipse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099815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EU market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282696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Berlin-based, DACH regulation native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557015"/>
            <a:ext cx="201168" cy="201168"/>
          </a:xfrm>
          <a:prstGeom prst="ellipse">
            <a:avLst/>
          </a:prstGeom>
          <a:solidFill>
            <a:srgbClr val="63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483863"/>
            <a:ext cx="4846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F6E56"/>
                </a:solidFill>
                <a:latin typeface="Calibri"/>
              </a:rPr>
              <a:t>Execution capability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666744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2C2C2A"/>
                </a:solidFill>
                <a:latin typeface="Calibri"/>
              </a:rPr>
              <a:t>Built MVP solo in months, not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114800"/>
            <a:ext cx="56692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E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2519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0F6E56"/>
                </a:solidFill>
                <a:latin typeface="Calibri"/>
              </a:rPr>
              <a:t>TEAM ROADMAP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754880"/>
            <a:ext cx="868680" cy="274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47548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47091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Junior full-stack developer (post €5k MRR)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5138928"/>
            <a:ext cx="868680" cy="274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51389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Q3 2027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0932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Sales / BD (post €10k MRR)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5522976"/>
            <a:ext cx="868680" cy="274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552297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Q4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47725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Customer success (15+ customers)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5907024"/>
            <a:ext cx="868680" cy="27432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59070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Q2 2028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69480" y="58613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0" i="0">
                <a:solidFill>
                  <a:srgbClr val="2C2C2A"/>
                </a:solidFill>
                <a:latin typeface="Calibri"/>
              </a:rPr>
              <a:t>Senior data engineer + co-founder evaluation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1">
                <a:solidFill>
                  <a:srgbClr val="2C2C2A"/>
                </a:solidFill>
                <a:latin typeface="Calibri"/>
              </a:rPr>
              <a:t>EnergyLens · Microsoft for Startups ·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2C2C2A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640080"/>
            <a:ext cx="640080" cy="64008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1D9E75"/>
                </a:solidFill>
                <a:latin typeface="Calibri"/>
              </a:rPr>
              <a:t>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1">
                <a:solidFill>
                  <a:srgbClr val="F1EFE8"/>
                </a:solidFill>
                <a:latin typeface="Calibri"/>
              </a:rPr>
              <a:t>Microsoft for Startups Tier 2 acceptance.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5DCAA5"/>
                </a:solidFill>
                <a:latin typeface="Calibri"/>
              </a:rPr>
              <a:t>What we need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456432"/>
            <a:ext cx="228600" cy="22860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5643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$5k–25k Azure credits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DCAA5"/>
                </a:solidFill>
                <a:latin typeface="Calibri"/>
              </a:rPr>
              <a:t>Scale Fabric capacity + web app infrastructure (12 months)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005072"/>
            <a:ext cx="228600" cy="22860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00507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Power BI Premium license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062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DCAA5"/>
                </a:solidFill>
                <a:latin typeface="Calibri"/>
              </a:rPr>
              <a:t>Enable embedded analytics in customer-facing SaaS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53712"/>
            <a:ext cx="228600" cy="22860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805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Microsoft Fabric F8+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DCAA5"/>
                </a:solidFill>
                <a:latin typeface="Calibri"/>
              </a:rPr>
              <a:t>Unblock production pipeline (currently throttled on F4 trial)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5102352"/>
            <a:ext cx="228600" cy="228600"/>
          </a:xfrm>
          <a:prstGeom prst="ellipse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Microsoft Partner Network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035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 i="0">
                <a:solidFill>
                  <a:srgbClr val="5DCAA5"/>
                </a:solidFill>
                <a:latin typeface="Calibri"/>
              </a:rPr>
              <a:t>Co-selling in DACH energy vertical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16459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Calibri"/>
              </a:rPr>
              <a:t>ESTIMATED VALUE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0574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1" i="0">
                <a:solidFill>
                  <a:srgbClr val="C0DD97"/>
                </a:solidFill>
                <a:latin typeface="Calibri"/>
              </a:rPr>
              <a:t>$40-60K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971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F1EFE8"/>
                </a:solidFill>
                <a:latin typeface="Calibri"/>
              </a:rPr>
              <a:t>in 12-month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3200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 i="1">
                <a:solidFill>
                  <a:srgbClr val="F1EFE8"/>
                </a:solidFill>
                <a:latin typeface="Calibri"/>
              </a:rPr>
              <a:t>infrastructure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38404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PATH FORWARD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4160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0DD97"/>
                </a:solidFill>
                <a:latin typeface="Calibri"/>
              </a:rPr>
              <a:t>→ Tier 2 in 3-14 days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45312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0DD97"/>
                </a:solidFill>
                <a:latin typeface="Calibri"/>
              </a:rPr>
              <a:t>→ Pilot launch Q3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74573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0DD97"/>
                </a:solidFill>
                <a:latin typeface="Calibri"/>
              </a:rPr>
              <a:t>→ Tier 3 in 6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503834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C0DD97"/>
                </a:solidFill>
                <a:latin typeface="Calibri"/>
              </a:rPr>
              <a:t>→ Microsoft Partner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852160"/>
            <a:ext cx="7772400" cy="822960"/>
          </a:xfrm>
          <a:prstGeom prst="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943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Calibri"/>
              </a:rPr>
              <a:t>Ali Mert Özdemir · Founder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2636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 i="0">
                <a:solidFill>
                  <a:srgbClr val="F1EFE8"/>
                </a:solidFill>
                <a:latin typeface="Calibri"/>
              </a:rPr>
              <a:t>alimertozdem@gmail.com  ·  linkedin.com/in/alimertozdemir96  ·  energylens.eu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64922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F1EFE8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
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874519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Trebuchet MS"/>
              </a:rPr>
              <a:t>EnergyLens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28803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0F9D6E"/>
                </a:solidFill>
                <a:latin typeface="Calibri"/>
              </a:rPr>
              <a:t>The operational side of low-carbon buildings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6D0"/>
                </a:solidFill>
                <a:latin typeface="Calibri"/>
              </a:rPr>
              <a:t>Measured energy use and EU reporting, once a building is in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Prepared for C4 engineers</a:t>
            </a:r>
            <a:r>
              <a:rPr sz="1250" b="0">
                <a:solidFill>
                  <a:srgbClr val="8A9690"/>
                </a:solidFill>
                <a:latin typeface="Calibri"/>
              </a:rPr>
              <a:t>    ·    Ali Mert Özdemir    · 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3211C"/>
                </a:solidFill>
                <a:latin typeface="Trebuchet MS"/>
              </a:rPr>
              <a:t>Two halves of the same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234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15B"/>
                </a:solidFill>
                <a:latin typeface="Calibri"/>
              </a:rPr>
              <a:t>Cutting a building's carbon happens in two places. C4 owns one. I've built the other.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50749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118872" cy="278892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4414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3211C"/>
                </a:solidFill>
                <a:latin typeface="Trebuchet MS"/>
              </a:rPr>
              <a:t>Embodied carbon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17520"/>
            <a:ext cx="4434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5615B"/>
                </a:solidFill>
                <a:latin typeface="Calibri"/>
              </a:rPr>
              <a:t>How the building is made — structure, materials, timber, reuse and circular design. Decided during design and construction.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43484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6E4F"/>
                </a:solidFill>
                <a:latin typeface="Calibri"/>
              </a:rPr>
              <a:t>C4 engineers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148840"/>
            <a:ext cx="50749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2148840"/>
            <a:ext cx="118872" cy="2788920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4414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3211C"/>
                </a:solidFill>
                <a:latin typeface="Trebuchet MS"/>
              </a:rPr>
              <a:t>Operational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017520"/>
            <a:ext cx="4434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5615B"/>
                </a:solidFill>
                <a:latin typeface="Calibri"/>
              </a:rPr>
              <a:t>How the building performs once it runs — energy used, wasted and reported. Plays out every day for decades.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43484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9D6E"/>
                </a:solidFill>
                <a:latin typeface="Calibri"/>
              </a:rPr>
              <a:t>EnergyLens (what I've built)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440680"/>
            <a:ext cx="10451592" cy="713232"/>
          </a:xfrm>
          <a:prstGeom prst="roundRect">
            <a:avLst>
              <a:gd name="adj" fmla="val 6000"/>
            </a:avLst>
          </a:prstGeom>
          <a:solidFill>
            <a:srgbClr val="13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515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Put together, that is </a:t>
            </a:r>
            <a:r>
              <a:rPr sz="1600" b="1">
                <a:solidFill>
                  <a:srgbClr val="0F9D6E"/>
                </a:solidFill>
                <a:latin typeface="Calibri"/>
              </a:rPr>
              <a:t>whole-life carbon</a:t>
            </a:r>
            <a:r>
              <a:rPr sz="1600" b="0">
                <a:solidFill>
                  <a:srgbClr val="FFFFFF"/>
                </a:solidFill>
                <a:latin typeface="Calibri"/>
              </a:rPr>
              <a:t>  — the picture owners increasingly have to show.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3211C"/>
                </a:solidFill>
                <a:latin typeface="Trebuchet MS"/>
              </a:rPr>
              <a:t>A bit about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280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55615B"/>
                </a:solidFill>
                <a:latin typeface="Calibri"/>
              </a:rPr>
              <a:t>Energy engineer, finishing an M.Sc. in Energy Management at BSBI Berlin this month. I built EnergyLens on my own — the data work, the analytics, the web app and the assistant on 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788920"/>
            <a:ext cx="331012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315467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ED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98448" y="326440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3703320"/>
            <a:ext cx="2670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3211C"/>
                </a:solidFill>
                <a:latin typeface="Trebuchet MS"/>
              </a:rPr>
              <a:t>Energy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4160520"/>
            <a:ext cx="26700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B.Sc. Energy Engineering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M.Sc. Energy Management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88920"/>
            <a:ext cx="331012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315467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ED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64608" y="326440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703320"/>
            <a:ext cx="2670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3211C"/>
                </a:solidFill>
                <a:latin typeface="Trebuchet MS"/>
              </a:rPr>
              <a:t>Microsoft Fabric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160520"/>
            <a:ext cx="26700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Certified DP-600 — the data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platform EnergyLens runs 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88920"/>
            <a:ext cx="331012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315467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ED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0768" y="326440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703320"/>
            <a:ext cx="2670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3211C"/>
                </a:solidFill>
                <a:latin typeface="Trebuchet MS"/>
              </a:rPr>
              <a:t>Built end to 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60520"/>
            <a:ext cx="26700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Pipeline, dashboards, web app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and AI assistant, solo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3211C"/>
                </a:solidFill>
                <a:latin typeface="Trebuchet MS"/>
              </a:rPr>
              <a:t>Why owners care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15B"/>
                </a:solidFill>
                <a:latin typeface="Calibri"/>
              </a:rPr>
              <a:t>Three forces are turning building energy from a nice-to-have into a reporting duty.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10451592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03120"/>
            <a:ext cx="118872" cy="1078992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24688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6E4F"/>
                </a:solidFill>
                <a:latin typeface="Trebuchet MS"/>
              </a:rPr>
              <a:t>EPBD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249424"/>
            <a:ext cx="74066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3211C"/>
                </a:solidFill>
                <a:latin typeface="Calibri"/>
              </a:rPr>
              <a:t>Minimum energy standards  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The worst-performing buildings in the EU will have to improve — or lose value and usability.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91839"/>
            <a:ext cx="10451592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91839"/>
            <a:ext cx="118872" cy="1078992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91839"/>
            <a:ext cx="24688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6E4F"/>
                </a:solidFill>
                <a:latin typeface="Trebuchet MS"/>
              </a:rPr>
              <a:t>CRREM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438144"/>
            <a:ext cx="74066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3211C"/>
                </a:solidFill>
                <a:latin typeface="Calibri"/>
              </a:rPr>
              <a:t>Stranding risk  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A clear line for when a building falls behind climate targets and becomes hard to finance or sell.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80559"/>
            <a:ext cx="10451592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480559"/>
            <a:ext cx="118872" cy="1078992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24688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6E4F"/>
                </a:solidFill>
                <a:latin typeface="Trebuchet MS"/>
              </a:rPr>
              <a:t>CSRD / ESRS E1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626864"/>
            <a:ext cx="74066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3211C"/>
                </a:solidFill>
                <a:latin typeface="Calibri"/>
              </a:rPr>
              <a:t>Mandatory reporting  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Large companies must report building energy and emissions. Banks and tenants are asking too.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705855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3211C"/>
                </a:solidFill>
                <a:latin typeface="Calibri"/>
              </a:rPr>
              <a:t>Most owners still can't measure or prove any of this. That gap is the opening.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3211C"/>
                </a:solidFill>
                <a:latin typeface="Trebuchet MS"/>
              </a:rPr>
              <a:t>What EnergyLens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15B"/>
                </a:solidFill>
                <a:latin typeface="Calibri"/>
              </a:rPr>
              <a:t>Four things, in plain terms.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2395727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81912" y="2359152"/>
            <a:ext cx="4069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3211C"/>
                </a:solidFill>
                <a:latin typeface="Trebuchet MS"/>
              </a:rPr>
              <a:t>Measure &amp; 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889503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Energy use per building and across a portfolio, with waste broken down by HVAC, lighting and other loads — and an estimate of what each problem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10312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65392" y="2395727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8584" y="2359152"/>
            <a:ext cx="4069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3211C"/>
                </a:solidFill>
                <a:latin typeface="Trebuchet MS"/>
              </a:rPr>
              <a:t>Catch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889503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Spots anomalies, comfort and CO₂ issues automatically, and suggests concrete actions ranked by likely saving.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142231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19" y="443484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1912" y="4398264"/>
            <a:ext cx="4069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3211C"/>
                </a:solidFill>
                <a:latin typeface="Trebuchet MS"/>
              </a:rPr>
              <a:t>Report for the 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4928616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An indicative read on EPBD, CRREM, EU Taxonomy and CSRD / ESRS E1, with one-click PDF export. Screening, not a certified audit.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142231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65392" y="443484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4398264"/>
            <a:ext cx="4069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3211C"/>
                </a:solidFill>
                <a:latin typeface="Trebuchet MS"/>
              </a:rPr>
              <a:t>Solar &amp; battery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928616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Tracks on-site generation and runs battery scenarios using real regional electricity prices, not guesses.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3211C"/>
                </a:solidFill>
                <a:latin typeface="Trebuchet MS"/>
              </a:rPr>
              <a:t>How it's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15B"/>
                </a:solidFill>
                <a:latin typeface="Calibri"/>
              </a:rPr>
              <a:t>A real platform on Microsoft Fabric — not a spreadsheet or a mock-up.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40280"/>
            <a:ext cx="3063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3063240" cy="457200"/>
          </a:xfrm>
          <a:prstGeom prst="roundRect">
            <a:avLst>
              <a:gd name="adj" fmla="val 6000"/>
            </a:avLst>
          </a:prstGeom>
          <a:solidFill>
            <a:srgbClr val="13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Bronze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697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5615B"/>
                </a:solidFill>
                <a:latin typeface="Calibri"/>
              </a:rPr>
              <a:t>Raw data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5615B"/>
                </a:solidFill>
                <a:latin typeface="Calibri"/>
              </a:rPr>
              <a:t>from meters &amp; sensors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95928" y="2807208"/>
            <a:ext cx="384048" cy="457200"/>
          </a:xfrm>
          <a:prstGeom prst="rightArrow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063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240280"/>
            <a:ext cx="3063240" cy="457200"/>
          </a:xfrm>
          <a:prstGeom prst="roundRect">
            <a:avLst>
              <a:gd name="adj" fmla="val 6000"/>
            </a:avLst>
          </a:prstGeom>
          <a:solidFill>
            <a:srgbClr val="13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80360"/>
            <a:ext cx="2697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5615B"/>
                </a:solidFill>
                <a:latin typeface="Calibri"/>
              </a:rPr>
              <a:t>Cleaned &amp;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5615B"/>
                </a:solidFill>
                <a:latin typeface="Calibri"/>
              </a:rPr>
              <a:t>standardised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62088" y="2807208"/>
            <a:ext cx="384048" cy="457200"/>
          </a:xfrm>
          <a:prstGeom prst="rightArrow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01000" y="2240280"/>
            <a:ext cx="3063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2240280"/>
            <a:ext cx="3063240" cy="457200"/>
          </a:xfrm>
          <a:prstGeom prst="roundRect">
            <a:avLst>
              <a:gd name="adj" fmla="val 6000"/>
            </a:avLst>
          </a:prstGeom>
          <a:solidFill>
            <a:srgbClr val="13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240280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880360"/>
            <a:ext cx="2697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5615B"/>
                </a:solidFill>
                <a:latin typeface="Calibri"/>
              </a:rPr>
              <a:t>Business logic,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5615B"/>
                </a:solidFill>
                <a:latin typeface="Calibri"/>
              </a:rPr>
              <a:t>KPIs &amp;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251960"/>
            <a:ext cx="10451592" cy="960120"/>
          </a:xfrm>
          <a:prstGeom prst="roundRect">
            <a:avLst>
              <a:gd name="adj" fmla="val 6000"/>
            </a:avLst>
          </a:prstGeom>
          <a:solidFill>
            <a:srgbClr val="13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251960"/>
            <a:ext cx="9692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0F9D6E"/>
                </a:solidFill>
                <a:latin typeface="Calibri"/>
              </a:rPr>
              <a:t>On top:  </a:t>
            </a:r>
            <a:r>
              <a:rPr sz="1450" b="0">
                <a:solidFill>
                  <a:srgbClr val="FFFFFF"/>
                </a:solidFill>
                <a:latin typeface="Calibri"/>
              </a:rPr>
              <a:t>a 10-page Power BI dashboard, a Next.js web app with logins and access control, and an AI assistant that answers questions in plain language.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440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3211C"/>
                </a:solidFill>
                <a:latin typeface="Calibri"/>
              </a:rPr>
              <a:t>There's a live demo I can walk you through.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02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3211C"/>
                </a:solidFill>
                <a:latin typeface="Trebuchet MS"/>
              </a:rPr>
              <a:t>Where this could fit with C4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15B"/>
                </a:solidFill>
                <a:latin typeface="Calibri"/>
              </a:rPr>
              <a:t>I'm not sure which of these is real — that's part of what I'd like to ask you.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1045159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2450592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D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45059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6E4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331720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3211C"/>
                </a:solidFill>
                <a:latin typeface="Trebuchet MS"/>
              </a:rPr>
              <a:t>A tool for your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752344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Give the owners you advise measured operational data and an early read on EU rules — alongside the embodied-carbon side you already cover.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465576"/>
            <a:ext cx="1045159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3767328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D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6732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6E4F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648456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3211C"/>
                </a:solidFill>
                <a:latin typeface="Trebuchet MS"/>
              </a:rPr>
              <a:t>A collaboration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069080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Join the construction and operational halves into one whole-life-carbon story, which is where regulation is clearly heading.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82312"/>
            <a:ext cx="1045159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5084064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D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08406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6E4F"/>
                </a:solidFill>
                <a:latin typeface="Trebuchet M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965192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3211C"/>
                </a:solidFill>
                <a:latin typeface="Trebuchet MS"/>
              </a:rPr>
              <a:t>A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385816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5615B"/>
                </a:solidFill>
                <a:latin typeface="Calibri"/>
              </a:rPr>
              <a:t>I like how C4 works — values-led, digital, parametric. I build data tools and I know the energy domain. Maybe there's a place for that.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Trebuchet MS"/>
              </a:rPr>
              <a:t>I'd value your read on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26060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9D6D0"/>
                </a:solidFill>
                <a:latin typeface="Calibri"/>
              </a:rPr>
              <a:t>Built and working today, with a live demo. The compliance figures are designed as early screening to flag risk — not certified statements. It's one person's work so far, and I'm looking for the right people to take it further.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4160520"/>
            <a:ext cx="4206240" cy="18288"/>
          </a:xfrm>
          <a:prstGeom prst="rect">
            <a:avLst/>
          </a:prstGeom>
          <a:solidFill>
            <a:srgbClr val="0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45262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Ali Mert Özdemir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9D6E"/>
                </a:solidFill>
                <a:latin typeface="Calibri"/>
              </a:rPr>
              <a:t>alimertozdem@gmail.com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9690"/>
                </a:solidFill>
                <a:latin typeface="Calibri"/>
              </a:rPr>
              <a:t>linkedin.com/in/alimertozdemir96   ·   github.com/alimertozdem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